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rts/chart1.xml" ContentType="application/vnd.openxmlformats-officedocument.drawingml.chart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5" r:id="rId10"/>
    <p:sldId id="264" r:id="rId1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61" d="100"/>
          <a:sy n="161" d="100"/>
        </p:scale>
        <p:origin x="252" y="8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2263A"/>
                </a:solidFill>
                <a:latin typeface="Arial"/>
              </a:defRPr>
            </a:pPr>
            <a:r>
              <a:rPr lang="sr-Latn-RS" sz="1300" b="0" i="0" u="none" strike="noStrike">
                <a:solidFill>
                  <a:srgbClr val="12263A"/>
                </a:solidFill>
                <a:latin typeface="Arial"/>
              </a:rPr>
              <a:t>Trend merenja</a:t>
            </a:r>
          </a:p>
        </c:rich>
      </c:tx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Temperatura</c:v>
                </c:pt>
              </c:strCache>
            </c:strRef>
          </c:tx>
          <c:spPr>
            <a:ln w="38100" cap="flat">
              <a:solidFill>
                <a:srgbClr val="02C39A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02C39A"/>
              </a:solidFill>
              <a:ln w="9525" cap="flat">
                <a:solidFill>
                  <a:srgbClr val="02C39A"/>
                </a:solidFill>
                <a:prstDash val="solid"/>
                <a:round/>
              </a:ln>
              <a:effectLst/>
            </c:spPr>
          </c:marker>
          <c:cat>
            <c:strRef>
              <c:f>Sheet1!$A$2:$A$9</c:f>
              <c:strCache>
                <c:ptCount val="8"/>
                <c:pt idx="0">
                  <c:v>t1</c:v>
                </c:pt>
                <c:pt idx="1">
                  <c:v>t2</c:v>
                </c:pt>
                <c:pt idx="2">
                  <c:v>t3</c:v>
                </c:pt>
                <c:pt idx="3">
                  <c:v>t4</c:v>
                </c:pt>
                <c:pt idx="4">
                  <c:v>t5</c:v>
                </c:pt>
                <c:pt idx="5">
                  <c:v>t6</c:v>
                </c:pt>
                <c:pt idx="6">
                  <c:v>t7</c:v>
                </c:pt>
                <c:pt idx="7">
                  <c:v>t8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21.2</c:v>
                </c:pt>
                <c:pt idx="1">
                  <c:v>23.8</c:v>
                </c:pt>
                <c:pt idx="2">
                  <c:v>22.1</c:v>
                </c:pt>
                <c:pt idx="3">
                  <c:v>25.4</c:v>
                </c:pt>
                <c:pt idx="4">
                  <c:v>24</c:v>
                </c:pt>
                <c:pt idx="5">
                  <c:v>26.7</c:v>
                </c:pt>
                <c:pt idx="6">
                  <c:v>23.4</c:v>
                </c:pt>
                <c:pt idx="7">
                  <c:v>24.9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0-A8AF-493B-99C8-384C5A060519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Vlaga</c:v>
                </c:pt>
              </c:strCache>
            </c:strRef>
          </c:tx>
          <c:spPr>
            <a:ln w="38100" cap="flat">
              <a:solidFill>
                <a:srgbClr val="1C7293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1C7293"/>
              </a:solidFill>
              <a:ln w="9525" cap="flat">
                <a:solidFill>
                  <a:srgbClr val="1C7293"/>
                </a:solidFill>
                <a:prstDash val="solid"/>
                <a:round/>
              </a:ln>
              <a:effectLst/>
            </c:spPr>
          </c:marker>
          <c:cat>
            <c:strRef>
              <c:f>Sheet1!$A$2:$A$9</c:f>
              <c:strCache>
                <c:ptCount val="8"/>
                <c:pt idx="0">
                  <c:v>t1</c:v>
                </c:pt>
                <c:pt idx="1">
                  <c:v>t2</c:v>
                </c:pt>
                <c:pt idx="2">
                  <c:v>t3</c:v>
                </c:pt>
                <c:pt idx="3">
                  <c:v>t4</c:v>
                </c:pt>
                <c:pt idx="4">
                  <c:v>t5</c:v>
                </c:pt>
                <c:pt idx="5">
                  <c:v>t6</c:v>
                </c:pt>
                <c:pt idx="6">
                  <c:v>t7</c:v>
                </c:pt>
                <c:pt idx="7">
                  <c:v>t8</c:v>
                </c:pt>
              </c:strCache>
            </c:strRef>
          </c:cat>
          <c:val>
            <c:numRef>
              <c:f>Sheet1!$C$2:$C$9</c:f>
              <c:numCache>
                <c:formatCode>General</c:formatCode>
                <c:ptCount val="8"/>
                <c:pt idx="0">
                  <c:v>55</c:v>
                </c:pt>
                <c:pt idx="1">
                  <c:v>62</c:v>
                </c:pt>
                <c:pt idx="2">
                  <c:v>58</c:v>
                </c:pt>
                <c:pt idx="3">
                  <c:v>67</c:v>
                </c:pt>
                <c:pt idx="4">
                  <c:v>61</c:v>
                </c:pt>
                <c:pt idx="5">
                  <c:v>70</c:v>
                </c:pt>
                <c:pt idx="6">
                  <c:v>64</c:v>
                </c:pt>
                <c:pt idx="7">
                  <c:v>61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1-A8AF-493B-99C8-384C5A06051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75569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75569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>
              <a:solidFill>
                <a:srgbClr val="475569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5489309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2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image" Target="../media/image10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1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4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332720" y="548640"/>
            <a:ext cx="1463040" cy="1463040"/>
          </a:xfrm>
          <a:prstGeom prst="ellipse">
            <a:avLst/>
          </a:prstGeom>
          <a:solidFill>
            <a:srgbClr val="1C7293">
              <a:alpha val="40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Shape 1"/>
          <p:cNvSpPr/>
          <p:nvPr/>
        </p:nvSpPr>
        <p:spPr>
          <a:xfrm>
            <a:off x="11064240" y="4937760"/>
            <a:ext cx="2194560" cy="2194560"/>
          </a:xfrm>
          <a:prstGeom prst="ellipse">
            <a:avLst/>
          </a:prstGeom>
          <a:solidFill>
            <a:srgbClr val="02C39A">
              <a:alpha val="25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4" name="Shape 2"/>
          <p:cNvSpPr/>
          <p:nvPr/>
        </p:nvSpPr>
        <p:spPr>
          <a:xfrm>
            <a:off x="-548640" y="5120640"/>
            <a:ext cx="2011680" cy="2011680"/>
          </a:xfrm>
          <a:prstGeom prst="ellipse">
            <a:avLst/>
          </a:prstGeom>
          <a:solidFill>
            <a:srgbClr val="1C7293">
              <a:alpha val="30000"/>
            </a:srgbClr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1234440"/>
            <a:ext cx="777240" cy="7772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600200" y="13716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IoT  ·  INTERNET </a:t>
            </a:r>
            <a:r>
              <a:rPr lang="sr-Latn-RS" sz="1400" b="1" kern="0" spc="30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STVARI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685800" y="2194560"/>
            <a:ext cx="105156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5600"/>
              </a:lnSpc>
              <a:buNone/>
            </a:pPr>
            <a:r>
              <a:rPr lang="en-US" sz="5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Distribuirani</a:t>
            </a:r>
            <a:endParaRPr lang="en-US" sz="5400" dirty="0"/>
          </a:p>
          <a:p>
            <a:pPr marL="0" indent="0">
              <a:lnSpc>
                <a:spcPts val="5600"/>
              </a:lnSpc>
              <a:buNone/>
            </a:pPr>
            <a:r>
              <a:rPr lang="en-US" sz="5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Senzorski Cvor</a:t>
            </a:r>
            <a:endParaRPr lang="en-US" sz="5400" dirty="0"/>
          </a:p>
        </p:txBody>
      </p:sp>
      <p:sp>
        <p:nvSpPr>
          <p:cNvPr id="8" name="Text 5"/>
          <p:cNvSpPr/>
          <p:nvPr/>
        </p:nvSpPr>
        <p:spPr>
          <a:xfrm>
            <a:off x="713232" y="4114800"/>
            <a:ext cx="8686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Distribuirani IoT sistem sa tri senzorska cvora (pravi senzori + simulacija), MQTT komunikacija i prikaz podataka u realnom vremenu.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731520" y="5212080"/>
            <a:ext cx="10698480" cy="0"/>
          </a:xfrm>
          <a:prstGeom prst="line">
            <a:avLst/>
          </a:prstGeom>
          <a:noFill/>
          <a:ln w="19050">
            <a:solidFill>
              <a:srgbClr val="1C729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Text 7"/>
          <p:cNvSpPr/>
          <p:nvPr/>
        </p:nvSpPr>
        <p:spPr>
          <a:xfrm>
            <a:off x="731520" y="534924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Tim:  </a:t>
            </a: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Stefan Grujicic 40/2022  ·  Mateja Planic 81/2022  ·  Mihailo Obradovic 79/2022  ·  Aleksandar Golubovic 43/2022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UVOD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226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Cilj projekta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554480"/>
            <a:ext cx="64008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2400"/>
              </a:lnSpc>
              <a:buNone/>
            </a:pPr>
            <a:r>
              <a:rPr lang="en-US" sz="1600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Izgraditi distribuirani IoT sistem koji prikuplja podatke sa vise nezavisnih senzorskih cvorova, prenosi ih lakim mreznim protokolom i prikazuje u realnom vremenu, uz obradu i trajno cuvanje.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3063240"/>
            <a:ext cx="548640" cy="548640"/>
          </a:xfrm>
          <a:prstGeom prst="ellipse">
            <a:avLst/>
          </a:prstGeom>
          <a:solidFill>
            <a:srgbClr val="0E2E4E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808" y="3172968"/>
            <a:ext cx="329184" cy="32918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371600" y="3044952"/>
            <a:ext cx="5760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 senzorska cvora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1371600" y="3337560"/>
            <a:ext cx="5760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Temperatura, vlaga i </a:t>
            </a:r>
            <a:r>
              <a:rPr lang="en-US" sz="1200" dirty="0" err="1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svetlost</a:t>
            </a: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- svaki cvor radi nezavisno.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640080" y="3931920"/>
            <a:ext cx="548640" cy="548640"/>
          </a:xfrm>
          <a:prstGeom prst="ellipse">
            <a:avLst/>
          </a:prstGeom>
          <a:solidFill>
            <a:srgbClr val="0E2E4E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9808" y="4041648"/>
            <a:ext cx="329184" cy="329184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371600" y="3913632"/>
            <a:ext cx="5760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MQTT komunikacija</a:t>
            </a:r>
            <a:endParaRPr lang="en-US" sz="1500" dirty="0"/>
          </a:p>
        </p:txBody>
      </p:sp>
      <p:sp>
        <p:nvSpPr>
          <p:cNvPr id="12" name="Text 8"/>
          <p:cNvSpPr/>
          <p:nvPr/>
        </p:nvSpPr>
        <p:spPr>
          <a:xfrm>
            <a:off x="1371600" y="4206240"/>
            <a:ext cx="5760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Laki publish/subscribe protokol preko Mosquitto brokera.</a:t>
            </a:r>
            <a:endParaRPr lang="en-US" sz="1200" dirty="0"/>
          </a:p>
        </p:txBody>
      </p:sp>
      <p:sp>
        <p:nvSpPr>
          <p:cNvPr id="13" name="Shape 9"/>
          <p:cNvSpPr/>
          <p:nvPr/>
        </p:nvSpPr>
        <p:spPr>
          <a:xfrm>
            <a:off x="640080" y="4800600"/>
            <a:ext cx="548640" cy="548640"/>
          </a:xfrm>
          <a:prstGeom prst="ellipse">
            <a:avLst/>
          </a:prstGeom>
          <a:solidFill>
            <a:srgbClr val="0E2E4E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9808" y="4910328"/>
            <a:ext cx="329184" cy="329184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371600" y="4782312"/>
            <a:ext cx="5760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Realno vreme</a:t>
            </a:r>
            <a:endParaRPr lang="en-US" sz="1500" dirty="0"/>
          </a:p>
        </p:txBody>
      </p:sp>
      <p:sp>
        <p:nvSpPr>
          <p:cNvPr id="16" name="Text 11"/>
          <p:cNvSpPr/>
          <p:nvPr/>
        </p:nvSpPr>
        <p:spPr>
          <a:xfrm>
            <a:off x="1371600" y="5074920"/>
            <a:ext cx="5760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Node-RED dashboard sa gauge-ovima i grafovima uzivo.</a:t>
            </a:r>
            <a:endParaRPr lang="en-US" sz="1200" dirty="0"/>
          </a:p>
        </p:txBody>
      </p:sp>
      <p:sp>
        <p:nvSpPr>
          <p:cNvPr id="17" name="Shape 12"/>
          <p:cNvSpPr/>
          <p:nvPr/>
        </p:nvSpPr>
        <p:spPr>
          <a:xfrm>
            <a:off x="640080" y="5669280"/>
            <a:ext cx="548640" cy="548640"/>
          </a:xfrm>
          <a:prstGeom prst="ellipse">
            <a:avLst/>
          </a:prstGeom>
          <a:solidFill>
            <a:srgbClr val="0E2E4E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9808" y="5779008"/>
            <a:ext cx="329184" cy="329184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1371600" y="5650992"/>
            <a:ext cx="5760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Obrada i baza</a:t>
            </a:r>
            <a:endParaRPr lang="en-US" sz="1500" dirty="0"/>
          </a:p>
        </p:txBody>
      </p:sp>
      <p:sp>
        <p:nvSpPr>
          <p:cNvPr id="20" name="Text 14"/>
          <p:cNvSpPr/>
          <p:nvPr/>
        </p:nvSpPr>
        <p:spPr>
          <a:xfrm>
            <a:off x="1371600" y="5943600"/>
            <a:ext cx="5760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Statistika, upozorenja i cuvanje u SQLite bazu.</a:t>
            </a:r>
            <a:endParaRPr lang="en-US" sz="1200" dirty="0"/>
          </a:p>
        </p:txBody>
      </p:sp>
      <p:sp>
        <p:nvSpPr>
          <p:cNvPr id="21" name="Shape 15"/>
          <p:cNvSpPr/>
          <p:nvPr/>
        </p:nvSpPr>
        <p:spPr>
          <a:xfrm>
            <a:off x="7680960" y="1554480"/>
            <a:ext cx="3840480" cy="4572000"/>
          </a:xfrm>
          <a:prstGeom prst="roundRect">
            <a:avLst>
              <a:gd name="adj" fmla="val 2857"/>
            </a:avLst>
          </a:prstGeom>
          <a:solidFill>
            <a:srgbClr val="0E2E4E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2" name="Text 16"/>
          <p:cNvSpPr/>
          <p:nvPr/>
        </p:nvSpPr>
        <p:spPr>
          <a:xfrm>
            <a:off x="7955280" y="182880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 BROJKAMA</a:t>
            </a:r>
            <a:endParaRPr lang="en-US" sz="1200" dirty="0"/>
          </a:p>
        </p:txBody>
      </p:sp>
      <p:sp>
        <p:nvSpPr>
          <p:cNvPr id="23" name="Text 17"/>
          <p:cNvSpPr/>
          <p:nvPr/>
        </p:nvSpPr>
        <p:spPr>
          <a:xfrm>
            <a:off x="7955280" y="2331720"/>
            <a:ext cx="3291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02C39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4000" dirty="0"/>
          </a:p>
        </p:txBody>
      </p:sp>
      <p:sp>
        <p:nvSpPr>
          <p:cNvPr id="24" name="Text 18"/>
          <p:cNvSpPr/>
          <p:nvPr/>
        </p:nvSpPr>
        <p:spPr>
          <a:xfrm>
            <a:off x="7973568" y="2898648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senzorska cvora</a:t>
            </a:r>
            <a:endParaRPr lang="en-US" sz="1300" dirty="0"/>
          </a:p>
        </p:txBody>
      </p:sp>
      <p:sp>
        <p:nvSpPr>
          <p:cNvPr id="25" name="Text 19"/>
          <p:cNvSpPr/>
          <p:nvPr/>
        </p:nvSpPr>
        <p:spPr>
          <a:xfrm>
            <a:off x="7955280" y="3246120"/>
            <a:ext cx="3291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02C39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4000" dirty="0"/>
          </a:p>
        </p:txBody>
      </p:sp>
      <p:sp>
        <p:nvSpPr>
          <p:cNvPr id="26" name="Text 20"/>
          <p:cNvSpPr/>
          <p:nvPr/>
        </p:nvSpPr>
        <p:spPr>
          <a:xfrm>
            <a:off x="7973568" y="3813048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merene velicine</a:t>
            </a:r>
            <a:endParaRPr lang="en-US" sz="1300" dirty="0"/>
          </a:p>
        </p:txBody>
      </p:sp>
      <p:sp>
        <p:nvSpPr>
          <p:cNvPr id="27" name="Text 21"/>
          <p:cNvSpPr/>
          <p:nvPr/>
        </p:nvSpPr>
        <p:spPr>
          <a:xfrm>
            <a:off x="7955280" y="4160520"/>
            <a:ext cx="3291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02C39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4000" dirty="0"/>
          </a:p>
        </p:txBody>
      </p:sp>
      <p:sp>
        <p:nvSpPr>
          <p:cNvPr id="28" name="Text 22"/>
          <p:cNvSpPr/>
          <p:nvPr/>
        </p:nvSpPr>
        <p:spPr>
          <a:xfrm>
            <a:off x="7973568" y="4727448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MQTT broker</a:t>
            </a:r>
            <a:endParaRPr lang="en-US" sz="1300" dirty="0"/>
          </a:p>
        </p:txBody>
      </p:sp>
      <p:sp>
        <p:nvSpPr>
          <p:cNvPr id="29" name="Text 23"/>
          <p:cNvSpPr/>
          <p:nvPr/>
        </p:nvSpPr>
        <p:spPr>
          <a:xfrm>
            <a:off x="7955280" y="5074920"/>
            <a:ext cx="3291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02C39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~3 s</a:t>
            </a:r>
            <a:endParaRPr lang="en-US" sz="4000" dirty="0"/>
          </a:p>
        </p:txBody>
      </p:sp>
      <p:sp>
        <p:nvSpPr>
          <p:cNvPr id="30" name="Text 24"/>
          <p:cNvSpPr/>
          <p:nvPr/>
        </p:nvSpPr>
        <p:spPr>
          <a:xfrm>
            <a:off x="7973568" y="5641848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interval slanja</a:t>
            </a:r>
            <a:endParaRPr lang="en-US" sz="1300" dirty="0"/>
          </a:p>
        </p:txBody>
      </p:sp>
      <p:sp>
        <p:nvSpPr>
          <p:cNvPr id="31" name="Text 25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Distribuirani Senzorski Cvor  ·  IoT projekat</a:t>
            </a:r>
            <a:endParaRPr lang="en-US" sz="900" dirty="0"/>
          </a:p>
        </p:txBody>
      </p:sp>
      <p:sp>
        <p:nvSpPr>
          <p:cNvPr id="32" name="Text 26"/>
          <p:cNvSpPr/>
          <p:nvPr/>
        </p:nvSpPr>
        <p:spPr>
          <a:xfrm>
            <a:off x="1124712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ARHITEKTURA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226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Kako sistem radi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246888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5875">
            <a:solidFill>
              <a:srgbClr val="1C7293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5" name="Shape 3"/>
          <p:cNvSpPr/>
          <p:nvPr/>
        </p:nvSpPr>
        <p:spPr>
          <a:xfrm>
            <a:off x="804672" y="1947672"/>
            <a:ext cx="548640" cy="548640"/>
          </a:xfrm>
          <a:prstGeom prst="ellipse">
            <a:avLst/>
          </a:prstGeom>
          <a:solidFill>
            <a:srgbClr val="0E2E4E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2057400"/>
            <a:ext cx="329184" cy="32918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63040" y="1856232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Cvor 1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1463040" y="2130552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Temperatura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1463040" y="2368296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18–28 °C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640080" y="2926080"/>
            <a:ext cx="246888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5875">
            <a:solidFill>
              <a:srgbClr val="1C7293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1" name="Shape 8"/>
          <p:cNvSpPr/>
          <p:nvPr/>
        </p:nvSpPr>
        <p:spPr>
          <a:xfrm>
            <a:off x="804672" y="3182112"/>
            <a:ext cx="548640" cy="548640"/>
          </a:xfrm>
          <a:prstGeom prst="ellipse">
            <a:avLst/>
          </a:prstGeom>
          <a:solidFill>
            <a:srgbClr val="0E2E4E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00" y="3291840"/>
            <a:ext cx="329184" cy="329184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463040" y="3090672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Cvor 2</a:t>
            </a:r>
            <a:endParaRPr lang="en-US" sz="1400" dirty="0"/>
          </a:p>
        </p:txBody>
      </p:sp>
      <p:sp>
        <p:nvSpPr>
          <p:cNvPr id="14" name="Text 10"/>
          <p:cNvSpPr/>
          <p:nvPr/>
        </p:nvSpPr>
        <p:spPr>
          <a:xfrm>
            <a:off x="1463040" y="3364992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Vlaga</a:t>
            </a:r>
            <a:endParaRPr lang="en-US" sz="1100" dirty="0"/>
          </a:p>
        </p:txBody>
      </p:sp>
      <p:sp>
        <p:nvSpPr>
          <p:cNvPr id="15" name="Text 11"/>
          <p:cNvSpPr/>
          <p:nvPr/>
        </p:nvSpPr>
        <p:spPr>
          <a:xfrm>
            <a:off x="1463040" y="3602736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40–80 %</a:t>
            </a:r>
            <a:endParaRPr lang="en-US" sz="1000" dirty="0"/>
          </a:p>
        </p:txBody>
      </p:sp>
      <p:sp>
        <p:nvSpPr>
          <p:cNvPr id="16" name="Shape 12"/>
          <p:cNvSpPr/>
          <p:nvPr/>
        </p:nvSpPr>
        <p:spPr>
          <a:xfrm>
            <a:off x="640080" y="4160520"/>
            <a:ext cx="246888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5875">
            <a:solidFill>
              <a:srgbClr val="1C7293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7" name="Shape 13"/>
          <p:cNvSpPr/>
          <p:nvPr/>
        </p:nvSpPr>
        <p:spPr>
          <a:xfrm>
            <a:off x="804672" y="4416552"/>
            <a:ext cx="548640" cy="548640"/>
          </a:xfrm>
          <a:prstGeom prst="ellipse">
            <a:avLst/>
          </a:prstGeom>
          <a:solidFill>
            <a:srgbClr val="0E2E4E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4400" y="4526280"/>
            <a:ext cx="329184" cy="329184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1463040" y="4325112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Cvor 3</a:t>
            </a:r>
            <a:endParaRPr lang="en-US" sz="1400" dirty="0"/>
          </a:p>
        </p:txBody>
      </p:sp>
      <p:sp>
        <p:nvSpPr>
          <p:cNvPr id="20" name="Text 15"/>
          <p:cNvSpPr/>
          <p:nvPr/>
        </p:nvSpPr>
        <p:spPr>
          <a:xfrm>
            <a:off x="1463040" y="4599432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Svetlost</a:t>
            </a:r>
            <a:endParaRPr lang="en-US" sz="1100" dirty="0"/>
          </a:p>
        </p:txBody>
      </p:sp>
      <p:sp>
        <p:nvSpPr>
          <p:cNvPr id="21" name="Text 16"/>
          <p:cNvSpPr/>
          <p:nvPr/>
        </p:nvSpPr>
        <p:spPr>
          <a:xfrm>
            <a:off x="1463040" y="4837176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100–1000 lux</a:t>
            </a:r>
            <a:endParaRPr lang="en-US" sz="1000" dirty="0"/>
          </a:p>
        </p:txBody>
      </p:sp>
      <p:sp>
        <p:nvSpPr>
          <p:cNvPr id="22" name="Shape 17"/>
          <p:cNvSpPr/>
          <p:nvPr/>
        </p:nvSpPr>
        <p:spPr>
          <a:xfrm>
            <a:off x="4434840" y="2057400"/>
            <a:ext cx="2377440" cy="2743200"/>
          </a:xfrm>
          <a:prstGeom prst="roundRect">
            <a:avLst>
              <a:gd name="adj" fmla="val 3846"/>
            </a:avLst>
          </a:prstGeom>
          <a:solidFill>
            <a:srgbClr val="0E2E4E"/>
          </a:solidFill>
          <a:ln/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2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349240" y="2743200"/>
            <a:ext cx="548640" cy="548640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4434840" y="338328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Mosquitto</a:t>
            </a:r>
            <a:endParaRPr lang="en-US" sz="1600" dirty="0"/>
          </a:p>
        </p:txBody>
      </p:sp>
      <p:sp>
        <p:nvSpPr>
          <p:cNvPr id="25" name="Text 19"/>
          <p:cNvSpPr/>
          <p:nvPr/>
        </p:nvSpPr>
        <p:spPr>
          <a:xfrm>
            <a:off x="4434840" y="3675888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MQTT Broker</a:t>
            </a:r>
            <a:endParaRPr lang="en-US" sz="1200" dirty="0"/>
          </a:p>
        </p:txBody>
      </p:sp>
      <p:sp>
        <p:nvSpPr>
          <p:cNvPr id="26" name="Shape 20"/>
          <p:cNvSpPr/>
          <p:nvPr/>
        </p:nvSpPr>
        <p:spPr>
          <a:xfrm>
            <a:off x="3108960" y="2212848"/>
            <a:ext cx="1325880" cy="0"/>
          </a:xfrm>
          <a:prstGeom prst="line">
            <a:avLst/>
          </a:prstGeom>
          <a:noFill/>
          <a:ln w="25400">
            <a:solidFill>
              <a:srgbClr val="1C7293"/>
            </a:solidFill>
            <a:prstDash val="solid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27" name="Shape 21"/>
          <p:cNvSpPr/>
          <p:nvPr/>
        </p:nvSpPr>
        <p:spPr>
          <a:xfrm>
            <a:off x="3108960" y="3447288"/>
            <a:ext cx="1325880" cy="0"/>
          </a:xfrm>
          <a:prstGeom prst="line">
            <a:avLst/>
          </a:prstGeom>
          <a:noFill/>
          <a:ln w="25400">
            <a:solidFill>
              <a:srgbClr val="1C7293"/>
            </a:solidFill>
            <a:prstDash val="solid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28" name="Shape 22"/>
          <p:cNvSpPr/>
          <p:nvPr/>
        </p:nvSpPr>
        <p:spPr>
          <a:xfrm>
            <a:off x="3108960" y="4681728"/>
            <a:ext cx="1325880" cy="0"/>
          </a:xfrm>
          <a:prstGeom prst="line">
            <a:avLst/>
          </a:prstGeom>
          <a:noFill/>
          <a:ln w="25400">
            <a:solidFill>
              <a:srgbClr val="1C7293"/>
            </a:solidFill>
            <a:prstDash val="solid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29" name="Shape 23"/>
          <p:cNvSpPr/>
          <p:nvPr/>
        </p:nvSpPr>
        <p:spPr>
          <a:xfrm>
            <a:off x="7863840" y="2103120"/>
            <a:ext cx="365760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9050">
            <a:solidFill>
              <a:srgbClr val="02C39A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30" name="Shape 24"/>
          <p:cNvSpPr/>
          <p:nvPr/>
        </p:nvSpPr>
        <p:spPr>
          <a:xfrm>
            <a:off x="8092440" y="2377440"/>
            <a:ext cx="548640" cy="548640"/>
          </a:xfrm>
          <a:prstGeom prst="ellipse">
            <a:avLst/>
          </a:prstGeom>
          <a:solidFill>
            <a:srgbClr val="02C39A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31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202168" y="2487168"/>
            <a:ext cx="329184" cy="329184"/>
          </a:xfrm>
          <a:prstGeom prst="rect">
            <a:avLst/>
          </a:prstGeom>
        </p:spPr>
      </p:pic>
      <p:sp>
        <p:nvSpPr>
          <p:cNvPr id="32" name="Text 25"/>
          <p:cNvSpPr/>
          <p:nvPr/>
        </p:nvSpPr>
        <p:spPr>
          <a:xfrm>
            <a:off x="8823960" y="2304288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Node-RED Dashboard</a:t>
            </a:r>
            <a:endParaRPr lang="en-US" sz="1500" dirty="0"/>
          </a:p>
        </p:txBody>
      </p:sp>
      <p:sp>
        <p:nvSpPr>
          <p:cNvPr id="33" name="Text 26"/>
          <p:cNvSpPr/>
          <p:nvPr/>
        </p:nvSpPr>
        <p:spPr>
          <a:xfrm>
            <a:off x="8823960" y="2633472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Prikaz u realnom vremenu</a:t>
            </a:r>
            <a:endParaRPr lang="en-US" sz="1100" dirty="0"/>
          </a:p>
        </p:txBody>
      </p:sp>
      <p:sp>
        <p:nvSpPr>
          <p:cNvPr id="34" name="Shape 27"/>
          <p:cNvSpPr/>
          <p:nvPr/>
        </p:nvSpPr>
        <p:spPr>
          <a:xfrm>
            <a:off x="7863840" y="4023360"/>
            <a:ext cx="365760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9050">
            <a:solidFill>
              <a:srgbClr val="02C39A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35" name="Shape 28"/>
          <p:cNvSpPr/>
          <p:nvPr/>
        </p:nvSpPr>
        <p:spPr>
          <a:xfrm>
            <a:off x="8092440" y="4297680"/>
            <a:ext cx="548640" cy="548640"/>
          </a:xfrm>
          <a:prstGeom prst="ellipse">
            <a:avLst/>
          </a:prstGeom>
          <a:solidFill>
            <a:srgbClr val="02C39A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36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202168" y="4407408"/>
            <a:ext cx="329184" cy="329184"/>
          </a:xfrm>
          <a:prstGeom prst="rect">
            <a:avLst/>
          </a:prstGeom>
        </p:spPr>
      </p:pic>
      <p:sp>
        <p:nvSpPr>
          <p:cNvPr id="37" name="Text 29"/>
          <p:cNvSpPr/>
          <p:nvPr/>
        </p:nvSpPr>
        <p:spPr>
          <a:xfrm>
            <a:off x="8823960" y="4224528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server.py</a:t>
            </a:r>
            <a:endParaRPr lang="en-US" sz="1500" dirty="0"/>
          </a:p>
        </p:txBody>
      </p:sp>
      <p:sp>
        <p:nvSpPr>
          <p:cNvPr id="38" name="Text 30"/>
          <p:cNvSpPr/>
          <p:nvPr/>
        </p:nvSpPr>
        <p:spPr>
          <a:xfrm>
            <a:off x="8823960" y="4553712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Obrada + SQLite baza</a:t>
            </a:r>
            <a:endParaRPr lang="en-US" sz="1100" dirty="0"/>
          </a:p>
        </p:txBody>
      </p:sp>
      <p:sp>
        <p:nvSpPr>
          <p:cNvPr id="39" name="Shape 31"/>
          <p:cNvSpPr/>
          <p:nvPr/>
        </p:nvSpPr>
        <p:spPr>
          <a:xfrm>
            <a:off x="6812280" y="2651760"/>
            <a:ext cx="1051560" cy="0"/>
          </a:xfrm>
          <a:prstGeom prst="line">
            <a:avLst/>
          </a:prstGeom>
          <a:noFill/>
          <a:ln w="25400">
            <a:solidFill>
              <a:srgbClr val="02C39A"/>
            </a:solidFill>
            <a:prstDash val="solid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40" name="Shape 32"/>
          <p:cNvSpPr/>
          <p:nvPr/>
        </p:nvSpPr>
        <p:spPr>
          <a:xfrm>
            <a:off x="6812280" y="4572000"/>
            <a:ext cx="1051560" cy="0"/>
          </a:xfrm>
          <a:prstGeom prst="line">
            <a:avLst/>
          </a:prstGeom>
          <a:noFill/>
          <a:ln w="25400">
            <a:solidFill>
              <a:srgbClr val="02C39A"/>
            </a:solidFill>
            <a:prstDash val="solid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41" name="Text 33"/>
          <p:cNvSpPr/>
          <p:nvPr/>
        </p:nvSpPr>
        <p:spPr>
          <a:xfrm>
            <a:off x="3063240" y="4892040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</a:t>
            </a:r>
            <a:endParaRPr lang="en-US" sz="1100" dirty="0"/>
          </a:p>
        </p:txBody>
      </p:sp>
      <p:sp>
        <p:nvSpPr>
          <p:cNvPr id="42" name="Text 34"/>
          <p:cNvSpPr/>
          <p:nvPr/>
        </p:nvSpPr>
        <p:spPr>
          <a:xfrm>
            <a:off x="6812280" y="4937760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Subscribe</a:t>
            </a:r>
            <a:endParaRPr lang="en-US" sz="1100" dirty="0"/>
          </a:p>
        </p:txBody>
      </p:sp>
      <p:sp>
        <p:nvSpPr>
          <p:cNvPr id="43" name="Text 35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Distribuirani Senzorski Cvor  ·  IoT projekat</a:t>
            </a:r>
            <a:endParaRPr lang="en-US" sz="900" dirty="0"/>
          </a:p>
        </p:txBody>
      </p:sp>
      <p:sp>
        <p:nvSpPr>
          <p:cNvPr id="44" name="Text 36"/>
          <p:cNvSpPr/>
          <p:nvPr/>
        </p:nvSpPr>
        <p:spPr>
          <a:xfrm>
            <a:off x="1124712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TEHNOLOGIJE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226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Korisceni alati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361188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/>
          <a:effectLst>
            <a:outerShdw blurRad="889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5" name="Shape 3"/>
          <p:cNvSpPr/>
          <p:nvPr/>
        </p:nvSpPr>
        <p:spPr>
          <a:xfrm>
            <a:off x="640080" y="1691640"/>
            <a:ext cx="91440" cy="1783080"/>
          </a:xfrm>
          <a:prstGeom prst="rect">
            <a:avLst/>
          </a:prstGeom>
          <a:solidFill>
            <a:srgbClr val="02C39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6" name="Shape 4"/>
          <p:cNvSpPr/>
          <p:nvPr/>
        </p:nvSpPr>
        <p:spPr>
          <a:xfrm>
            <a:off x="960120" y="2011680"/>
            <a:ext cx="685800" cy="685800"/>
          </a:xfrm>
          <a:prstGeom prst="ellipse">
            <a:avLst/>
          </a:prstGeom>
          <a:solidFill>
            <a:srgbClr val="0E2E4E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280" y="2148840"/>
            <a:ext cx="411480" cy="41148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828800" y="2057400"/>
            <a:ext cx="2240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1005840" y="2788920"/>
            <a:ext cx="2971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Obrada podataka i MQTT klijent (paho-mqtt).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4480560" y="1691640"/>
            <a:ext cx="361188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/>
          <a:effectLst>
            <a:outerShdw blurRad="889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1" name="Shape 8"/>
          <p:cNvSpPr/>
          <p:nvPr/>
        </p:nvSpPr>
        <p:spPr>
          <a:xfrm>
            <a:off x="4480560" y="1691640"/>
            <a:ext cx="91440" cy="1783080"/>
          </a:xfrm>
          <a:prstGeom prst="rect">
            <a:avLst/>
          </a:prstGeom>
          <a:solidFill>
            <a:srgbClr val="02C39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2" name="Shape 9"/>
          <p:cNvSpPr/>
          <p:nvPr/>
        </p:nvSpPr>
        <p:spPr>
          <a:xfrm>
            <a:off x="4800600" y="2011680"/>
            <a:ext cx="685800" cy="685800"/>
          </a:xfrm>
          <a:prstGeom prst="ellipse">
            <a:avLst/>
          </a:prstGeom>
          <a:solidFill>
            <a:srgbClr val="0E2E4E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37760" y="2148840"/>
            <a:ext cx="411480" cy="41148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5669280" y="2057400"/>
            <a:ext cx="2240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MQTT / Mosquitto</a:t>
            </a:r>
            <a:endParaRPr lang="en-US" sz="1700" dirty="0"/>
          </a:p>
        </p:txBody>
      </p:sp>
      <p:sp>
        <p:nvSpPr>
          <p:cNvPr id="15" name="Text 11"/>
          <p:cNvSpPr/>
          <p:nvPr/>
        </p:nvSpPr>
        <p:spPr>
          <a:xfrm>
            <a:off x="4846320" y="2788920"/>
            <a:ext cx="2971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Publish/subscribe broker za razmenu poruka.</a:t>
            </a:r>
            <a:endParaRPr lang="en-US" sz="1200" dirty="0"/>
          </a:p>
        </p:txBody>
      </p:sp>
      <p:sp>
        <p:nvSpPr>
          <p:cNvPr id="16" name="Shape 12"/>
          <p:cNvSpPr/>
          <p:nvPr/>
        </p:nvSpPr>
        <p:spPr>
          <a:xfrm>
            <a:off x="8321040" y="1691640"/>
            <a:ext cx="361188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/>
          <a:effectLst>
            <a:outerShdw blurRad="889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7" name="Shape 13"/>
          <p:cNvSpPr/>
          <p:nvPr/>
        </p:nvSpPr>
        <p:spPr>
          <a:xfrm>
            <a:off x="8321040" y="1691640"/>
            <a:ext cx="91440" cy="1783080"/>
          </a:xfrm>
          <a:prstGeom prst="rect">
            <a:avLst/>
          </a:prstGeom>
          <a:solidFill>
            <a:srgbClr val="02C39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8" name="Shape 14"/>
          <p:cNvSpPr/>
          <p:nvPr/>
        </p:nvSpPr>
        <p:spPr>
          <a:xfrm>
            <a:off x="8641080" y="2011680"/>
            <a:ext cx="685800" cy="685800"/>
          </a:xfrm>
          <a:prstGeom prst="ellipse">
            <a:avLst/>
          </a:prstGeom>
          <a:solidFill>
            <a:srgbClr val="0E2E4E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78240" y="2148840"/>
            <a:ext cx="411480" cy="41148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9509760" y="2057400"/>
            <a:ext cx="2240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Node-RED</a:t>
            </a:r>
            <a:endParaRPr lang="en-US" sz="1700" dirty="0"/>
          </a:p>
        </p:txBody>
      </p:sp>
      <p:sp>
        <p:nvSpPr>
          <p:cNvPr id="21" name="Text 16"/>
          <p:cNvSpPr/>
          <p:nvPr/>
        </p:nvSpPr>
        <p:spPr>
          <a:xfrm>
            <a:off x="8686800" y="2788920"/>
            <a:ext cx="2971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Vizuelno programiranje toka i dashboard.</a:t>
            </a:r>
            <a:endParaRPr lang="en-US" sz="1200" dirty="0"/>
          </a:p>
        </p:txBody>
      </p:sp>
      <p:sp>
        <p:nvSpPr>
          <p:cNvPr id="22" name="Shape 17"/>
          <p:cNvSpPr/>
          <p:nvPr/>
        </p:nvSpPr>
        <p:spPr>
          <a:xfrm>
            <a:off x="640080" y="3794760"/>
            <a:ext cx="361188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/>
          <a:effectLst>
            <a:outerShdw blurRad="889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3" name="Shape 18"/>
          <p:cNvSpPr/>
          <p:nvPr/>
        </p:nvSpPr>
        <p:spPr>
          <a:xfrm>
            <a:off x="640080" y="3794760"/>
            <a:ext cx="91440" cy="1783080"/>
          </a:xfrm>
          <a:prstGeom prst="rect">
            <a:avLst/>
          </a:prstGeom>
          <a:solidFill>
            <a:srgbClr val="02C39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4" name="Shape 19"/>
          <p:cNvSpPr/>
          <p:nvPr/>
        </p:nvSpPr>
        <p:spPr>
          <a:xfrm>
            <a:off x="960120" y="4114800"/>
            <a:ext cx="685800" cy="685800"/>
          </a:xfrm>
          <a:prstGeom prst="ellipse">
            <a:avLst/>
          </a:prstGeom>
          <a:solidFill>
            <a:srgbClr val="0E2E4E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2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97280" y="4251960"/>
            <a:ext cx="411480" cy="411480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1828800" y="4160520"/>
            <a:ext cx="2240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</a:t>
            </a:r>
            <a:endParaRPr lang="en-US" sz="1700" dirty="0"/>
          </a:p>
        </p:txBody>
      </p:sp>
      <p:sp>
        <p:nvSpPr>
          <p:cNvPr id="27" name="Text 21"/>
          <p:cNvSpPr/>
          <p:nvPr/>
        </p:nvSpPr>
        <p:spPr>
          <a:xfrm>
            <a:off x="1005840" y="4892040"/>
            <a:ext cx="2971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Pokretacka platforma za Node-RED.</a:t>
            </a:r>
            <a:endParaRPr lang="en-US" sz="1200" dirty="0"/>
          </a:p>
        </p:txBody>
      </p:sp>
      <p:sp>
        <p:nvSpPr>
          <p:cNvPr id="28" name="Shape 22"/>
          <p:cNvSpPr/>
          <p:nvPr/>
        </p:nvSpPr>
        <p:spPr>
          <a:xfrm>
            <a:off x="4480560" y="3794760"/>
            <a:ext cx="361188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/>
          <a:effectLst>
            <a:outerShdw blurRad="889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9" name="Shape 23"/>
          <p:cNvSpPr/>
          <p:nvPr/>
        </p:nvSpPr>
        <p:spPr>
          <a:xfrm>
            <a:off x="4480560" y="3794760"/>
            <a:ext cx="91440" cy="1783080"/>
          </a:xfrm>
          <a:prstGeom prst="rect">
            <a:avLst/>
          </a:prstGeom>
          <a:solidFill>
            <a:srgbClr val="02C39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0" name="Shape 24"/>
          <p:cNvSpPr/>
          <p:nvPr/>
        </p:nvSpPr>
        <p:spPr>
          <a:xfrm>
            <a:off x="4800600" y="4114800"/>
            <a:ext cx="685800" cy="685800"/>
          </a:xfrm>
          <a:prstGeom prst="ellipse">
            <a:avLst/>
          </a:prstGeom>
          <a:solidFill>
            <a:srgbClr val="0E2E4E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31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937760" y="4251960"/>
            <a:ext cx="411480" cy="411480"/>
          </a:xfrm>
          <a:prstGeom prst="rect">
            <a:avLst/>
          </a:prstGeom>
        </p:spPr>
      </p:pic>
      <p:sp>
        <p:nvSpPr>
          <p:cNvPr id="32" name="Text 25"/>
          <p:cNvSpPr/>
          <p:nvPr/>
        </p:nvSpPr>
        <p:spPr>
          <a:xfrm>
            <a:off x="5669280" y="4160520"/>
            <a:ext cx="2240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</a:t>
            </a:r>
            <a:endParaRPr lang="en-US" sz="1700" dirty="0"/>
          </a:p>
        </p:txBody>
      </p:sp>
      <p:sp>
        <p:nvSpPr>
          <p:cNvPr id="33" name="Text 26"/>
          <p:cNvSpPr/>
          <p:nvPr/>
        </p:nvSpPr>
        <p:spPr>
          <a:xfrm>
            <a:off x="4846320" y="4892040"/>
            <a:ext cx="2971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Lokalna baza za trajno cuvanje merenja.</a:t>
            </a:r>
            <a:endParaRPr lang="en-US" sz="1200" dirty="0"/>
          </a:p>
        </p:txBody>
      </p:sp>
      <p:sp>
        <p:nvSpPr>
          <p:cNvPr id="34" name="Shape 27"/>
          <p:cNvSpPr/>
          <p:nvPr/>
        </p:nvSpPr>
        <p:spPr>
          <a:xfrm>
            <a:off x="8321040" y="3794760"/>
            <a:ext cx="361188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/>
          <a:effectLst>
            <a:outerShdw blurRad="889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35" name="Shape 28"/>
          <p:cNvSpPr/>
          <p:nvPr/>
        </p:nvSpPr>
        <p:spPr>
          <a:xfrm>
            <a:off x="8321040" y="3794760"/>
            <a:ext cx="91440" cy="1783080"/>
          </a:xfrm>
          <a:prstGeom prst="rect">
            <a:avLst/>
          </a:prstGeom>
          <a:solidFill>
            <a:srgbClr val="02C39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6" name="Shape 29"/>
          <p:cNvSpPr/>
          <p:nvPr/>
        </p:nvSpPr>
        <p:spPr>
          <a:xfrm>
            <a:off x="8641080" y="4114800"/>
            <a:ext cx="685800" cy="685800"/>
          </a:xfrm>
          <a:prstGeom prst="ellipse">
            <a:avLst/>
          </a:prstGeom>
          <a:solidFill>
            <a:srgbClr val="0E2E4E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3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778240" y="4251960"/>
            <a:ext cx="411480" cy="411480"/>
          </a:xfrm>
          <a:prstGeom prst="rect">
            <a:avLst/>
          </a:prstGeom>
        </p:spPr>
      </p:pic>
      <p:sp>
        <p:nvSpPr>
          <p:cNvPr id="38" name="Text 30"/>
          <p:cNvSpPr/>
          <p:nvPr/>
        </p:nvSpPr>
        <p:spPr>
          <a:xfrm>
            <a:off x="9509760" y="4160520"/>
            <a:ext cx="2240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plugin</a:t>
            </a:r>
            <a:endParaRPr lang="en-US" sz="1700" dirty="0"/>
          </a:p>
        </p:txBody>
      </p:sp>
      <p:sp>
        <p:nvSpPr>
          <p:cNvPr id="39" name="Text 31"/>
          <p:cNvSpPr/>
          <p:nvPr/>
        </p:nvSpPr>
        <p:spPr>
          <a:xfrm>
            <a:off x="8686800" y="4892040"/>
            <a:ext cx="2971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Gauge-ovi i grafovi u realnom vremenu.</a:t>
            </a:r>
            <a:endParaRPr lang="en-US" sz="1200" dirty="0"/>
          </a:p>
        </p:txBody>
      </p:sp>
      <p:sp>
        <p:nvSpPr>
          <p:cNvPr id="40" name="Text 32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Distribuirani Senzorski Cvor  ·  IoT projekat</a:t>
            </a:r>
            <a:endParaRPr lang="en-US" sz="900" dirty="0"/>
          </a:p>
        </p:txBody>
      </p:sp>
      <p:sp>
        <p:nvSpPr>
          <p:cNvPr id="41" name="Text 33"/>
          <p:cNvSpPr/>
          <p:nvPr/>
        </p:nvSpPr>
        <p:spPr>
          <a:xfrm>
            <a:off x="1124712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SENZORSKI CVOROVI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226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Tri nezavisna izvora podataka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/>
          <a:effectLst>
            <a:outerShdw blurRad="88900" dist="254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5" name="Shape 3"/>
          <p:cNvSpPr/>
          <p:nvPr/>
        </p:nvSpPr>
        <p:spPr>
          <a:xfrm>
            <a:off x="640080" y="1691640"/>
            <a:ext cx="3611880" cy="822960"/>
          </a:xfrm>
          <a:prstGeom prst="roundRect">
            <a:avLst>
              <a:gd name="adj" fmla="val 11111"/>
            </a:avLst>
          </a:prstGeom>
          <a:solidFill>
            <a:srgbClr val="0E2E4E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6" name="Shape 4"/>
          <p:cNvSpPr/>
          <p:nvPr/>
        </p:nvSpPr>
        <p:spPr>
          <a:xfrm>
            <a:off x="640080" y="2103120"/>
            <a:ext cx="3611880" cy="411480"/>
          </a:xfrm>
          <a:prstGeom prst="rect">
            <a:avLst/>
          </a:prstGeom>
          <a:solidFill>
            <a:srgbClr val="0E2E4E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0120" y="1929384"/>
            <a:ext cx="384048" cy="38404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508760" y="1856232"/>
            <a:ext cx="2606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Cvor 1 - Temperatura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960120" y="2743200"/>
            <a:ext cx="2971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MQTT tema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960120" y="2971800"/>
            <a:ext cx="2971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226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iot/cvor1/temperatura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960120" y="3429000"/>
            <a:ext cx="2971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Opseg merenja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960120" y="3657600"/>
            <a:ext cx="2971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2C39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18.0 – 28.0 °C</a:t>
            </a:r>
            <a:endParaRPr lang="en-US" sz="2000" dirty="0"/>
          </a:p>
        </p:txBody>
      </p:sp>
      <p:sp>
        <p:nvSpPr>
          <p:cNvPr id="13" name="Text 10"/>
          <p:cNvSpPr/>
          <p:nvPr/>
        </p:nvSpPr>
        <p:spPr>
          <a:xfrm>
            <a:off x="960120" y="4389120"/>
            <a:ext cx="2971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Granice alarma: 15–30 °C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4480560" y="169164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/>
          <a:effectLst>
            <a:outerShdw blurRad="88900" dist="254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5" name="Shape 12"/>
          <p:cNvSpPr/>
          <p:nvPr/>
        </p:nvSpPr>
        <p:spPr>
          <a:xfrm>
            <a:off x="4480560" y="1691640"/>
            <a:ext cx="3611880" cy="822960"/>
          </a:xfrm>
          <a:prstGeom prst="roundRect">
            <a:avLst>
              <a:gd name="adj" fmla="val 11111"/>
            </a:avLst>
          </a:prstGeom>
          <a:solidFill>
            <a:srgbClr val="0E2E4E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6" name="Shape 13"/>
          <p:cNvSpPr/>
          <p:nvPr/>
        </p:nvSpPr>
        <p:spPr>
          <a:xfrm>
            <a:off x="4480560" y="2103120"/>
            <a:ext cx="3611880" cy="411480"/>
          </a:xfrm>
          <a:prstGeom prst="rect">
            <a:avLst/>
          </a:prstGeom>
          <a:solidFill>
            <a:srgbClr val="0E2E4E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1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00600" y="1929384"/>
            <a:ext cx="384048" cy="384048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5349240" y="1856232"/>
            <a:ext cx="2606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Cvor 2 - Vlaga</a:t>
            </a:r>
            <a:endParaRPr lang="en-US" sz="1400" dirty="0"/>
          </a:p>
        </p:txBody>
      </p:sp>
      <p:sp>
        <p:nvSpPr>
          <p:cNvPr id="19" name="Text 15"/>
          <p:cNvSpPr/>
          <p:nvPr/>
        </p:nvSpPr>
        <p:spPr>
          <a:xfrm>
            <a:off x="4800600" y="2743200"/>
            <a:ext cx="2971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MQTT tema</a:t>
            </a:r>
            <a:endParaRPr lang="en-US" sz="1000" dirty="0"/>
          </a:p>
        </p:txBody>
      </p:sp>
      <p:sp>
        <p:nvSpPr>
          <p:cNvPr id="20" name="Text 16"/>
          <p:cNvSpPr/>
          <p:nvPr/>
        </p:nvSpPr>
        <p:spPr>
          <a:xfrm>
            <a:off x="4800600" y="2971800"/>
            <a:ext cx="2971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226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iot/cvor2/vlaga</a:t>
            </a:r>
            <a:endParaRPr lang="en-US" sz="1200" dirty="0"/>
          </a:p>
        </p:txBody>
      </p:sp>
      <p:sp>
        <p:nvSpPr>
          <p:cNvPr id="21" name="Text 17"/>
          <p:cNvSpPr/>
          <p:nvPr/>
        </p:nvSpPr>
        <p:spPr>
          <a:xfrm>
            <a:off x="4800600" y="3429000"/>
            <a:ext cx="2971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Opseg merenja</a:t>
            </a:r>
            <a:endParaRPr lang="en-US" sz="1000" dirty="0"/>
          </a:p>
        </p:txBody>
      </p:sp>
      <p:sp>
        <p:nvSpPr>
          <p:cNvPr id="22" name="Text 18"/>
          <p:cNvSpPr/>
          <p:nvPr/>
        </p:nvSpPr>
        <p:spPr>
          <a:xfrm>
            <a:off x="4800600" y="3657600"/>
            <a:ext cx="2971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2C39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40.0 – 80.0 %</a:t>
            </a:r>
            <a:endParaRPr lang="en-US" sz="2000" dirty="0"/>
          </a:p>
        </p:txBody>
      </p:sp>
      <p:sp>
        <p:nvSpPr>
          <p:cNvPr id="23" name="Text 19"/>
          <p:cNvSpPr/>
          <p:nvPr/>
        </p:nvSpPr>
        <p:spPr>
          <a:xfrm>
            <a:off x="4800600" y="4389120"/>
            <a:ext cx="2971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Granice alarma: 30–70 %</a:t>
            </a:r>
            <a:endParaRPr lang="en-US" sz="1100" dirty="0"/>
          </a:p>
        </p:txBody>
      </p:sp>
      <p:sp>
        <p:nvSpPr>
          <p:cNvPr id="24" name="Shape 20"/>
          <p:cNvSpPr/>
          <p:nvPr/>
        </p:nvSpPr>
        <p:spPr>
          <a:xfrm>
            <a:off x="8321040" y="169164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/>
          <a:effectLst>
            <a:outerShdw blurRad="88900" dist="254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5" name="Shape 21"/>
          <p:cNvSpPr/>
          <p:nvPr/>
        </p:nvSpPr>
        <p:spPr>
          <a:xfrm>
            <a:off x="8321040" y="1691640"/>
            <a:ext cx="3611880" cy="822960"/>
          </a:xfrm>
          <a:prstGeom prst="roundRect">
            <a:avLst>
              <a:gd name="adj" fmla="val 11111"/>
            </a:avLst>
          </a:prstGeom>
          <a:solidFill>
            <a:srgbClr val="0E2E4E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6" name="Shape 22"/>
          <p:cNvSpPr/>
          <p:nvPr/>
        </p:nvSpPr>
        <p:spPr>
          <a:xfrm>
            <a:off x="8321040" y="2103120"/>
            <a:ext cx="3611880" cy="411480"/>
          </a:xfrm>
          <a:prstGeom prst="rect">
            <a:avLst/>
          </a:prstGeom>
          <a:solidFill>
            <a:srgbClr val="0E2E4E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2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41080" y="1929384"/>
            <a:ext cx="384048" cy="384048"/>
          </a:xfrm>
          <a:prstGeom prst="rect">
            <a:avLst/>
          </a:prstGeom>
        </p:spPr>
      </p:pic>
      <p:sp>
        <p:nvSpPr>
          <p:cNvPr id="28" name="Text 23"/>
          <p:cNvSpPr/>
          <p:nvPr/>
        </p:nvSpPr>
        <p:spPr>
          <a:xfrm>
            <a:off x="9189720" y="1856232"/>
            <a:ext cx="2606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Cvor 3 - Svetlost</a:t>
            </a:r>
            <a:endParaRPr lang="en-US" sz="1400" dirty="0"/>
          </a:p>
        </p:txBody>
      </p:sp>
      <p:sp>
        <p:nvSpPr>
          <p:cNvPr id="29" name="Text 24"/>
          <p:cNvSpPr/>
          <p:nvPr/>
        </p:nvSpPr>
        <p:spPr>
          <a:xfrm>
            <a:off x="8641080" y="2743200"/>
            <a:ext cx="2971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MQTT tema</a:t>
            </a:r>
            <a:endParaRPr lang="en-US" sz="1000" dirty="0"/>
          </a:p>
        </p:txBody>
      </p:sp>
      <p:sp>
        <p:nvSpPr>
          <p:cNvPr id="30" name="Text 25"/>
          <p:cNvSpPr/>
          <p:nvPr/>
        </p:nvSpPr>
        <p:spPr>
          <a:xfrm>
            <a:off x="8641080" y="2971800"/>
            <a:ext cx="2971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226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iot/cvor3/svetlost</a:t>
            </a:r>
            <a:endParaRPr lang="en-US" sz="1200" dirty="0"/>
          </a:p>
        </p:txBody>
      </p:sp>
      <p:sp>
        <p:nvSpPr>
          <p:cNvPr id="31" name="Text 26"/>
          <p:cNvSpPr/>
          <p:nvPr/>
        </p:nvSpPr>
        <p:spPr>
          <a:xfrm>
            <a:off x="8641080" y="3429000"/>
            <a:ext cx="2971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Opseg merenja</a:t>
            </a:r>
            <a:endParaRPr lang="en-US" sz="1000" dirty="0"/>
          </a:p>
        </p:txBody>
      </p:sp>
      <p:sp>
        <p:nvSpPr>
          <p:cNvPr id="32" name="Text 27"/>
          <p:cNvSpPr/>
          <p:nvPr/>
        </p:nvSpPr>
        <p:spPr>
          <a:xfrm>
            <a:off x="8641080" y="3657600"/>
            <a:ext cx="2971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2C39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100 – 1000 lux</a:t>
            </a:r>
            <a:endParaRPr lang="en-US" sz="2000" dirty="0"/>
          </a:p>
        </p:txBody>
      </p:sp>
      <p:sp>
        <p:nvSpPr>
          <p:cNvPr id="33" name="Text 28"/>
          <p:cNvSpPr/>
          <p:nvPr/>
        </p:nvSpPr>
        <p:spPr>
          <a:xfrm>
            <a:off x="8641080" y="4389120"/>
            <a:ext cx="2971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Granice alarma: 100–900 lux</a:t>
            </a:r>
            <a:endParaRPr lang="en-US" sz="1100" dirty="0"/>
          </a:p>
        </p:txBody>
      </p:sp>
      <p:sp>
        <p:nvSpPr>
          <p:cNvPr id="34" name="Text 29"/>
          <p:cNvSpPr/>
          <p:nvPr/>
        </p:nvSpPr>
        <p:spPr>
          <a:xfrm>
            <a:off x="640080" y="521208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Svaki cvor je samostalni Python program koji na svake ~3 sekunde generise vrednost i objavljuje je na svoju MQTT temu.</a:t>
            </a:r>
            <a:endParaRPr lang="en-US" sz="1400" dirty="0"/>
          </a:p>
        </p:txBody>
      </p:sp>
      <p:sp>
        <p:nvSpPr>
          <p:cNvPr id="35" name="Text 30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Distribuirani Senzorski Cvor  ·  IoT projekat</a:t>
            </a:r>
            <a:endParaRPr lang="en-US" sz="900" dirty="0"/>
          </a:p>
        </p:txBody>
      </p:sp>
      <p:sp>
        <p:nvSpPr>
          <p:cNvPr id="36" name="Text 31"/>
          <p:cNvSpPr/>
          <p:nvPr/>
        </p:nvSpPr>
        <p:spPr>
          <a:xfrm>
            <a:off x="1124712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KOMUNIKACIJA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226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MQTT - publish / subscribe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554480"/>
            <a:ext cx="65836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2400"/>
              </a:lnSpc>
              <a:buNone/>
            </a:pPr>
            <a:r>
              <a:rPr lang="en-US" sz="1600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MQTT je laki protokol za razmenu poruka idealan za IoT. Cvorovi su izdavaci (publisher) koji salju poruke na teme; broker ih prosledjuje svim pretplacenim klijentima (subscriber).</a:t>
            </a:r>
            <a:endParaRPr lang="en-US" sz="16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2944368"/>
            <a:ext cx="320040" cy="3200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97280" y="2880360"/>
            <a:ext cx="6126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Tema (topic).  </a:t>
            </a:r>
            <a:r>
              <a:rPr lang="en-US" sz="13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Hijerarhijska adresa poruke, npr. iot/cvor1/temperatura.</a:t>
            </a:r>
            <a:endParaRPr lang="en-US" sz="135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3721608"/>
            <a:ext cx="320040" cy="32004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097280" y="3657600"/>
            <a:ext cx="6126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Publisher.  </a:t>
            </a:r>
            <a:r>
              <a:rPr lang="en-US" sz="13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Senzorski cvor salje vrednost na svoju temu.</a:t>
            </a:r>
            <a:endParaRPr lang="en-US" sz="135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4498848"/>
            <a:ext cx="320040" cy="32004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1097280" y="4434840"/>
            <a:ext cx="6126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Broker.  </a:t>
            </a:r>
            <a:r>
              <a:rPr lang="en-US" sz="13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Mosquitto prima i prosledjuje poruke.</a:t>
            </a:r>
            <a:endParaRPr lang="en-US" sz="1350" dirty="0"/>
          </a:p>
        </p:txBody>
      </p:sp>
      <p:pic>
        <p:nvPicPr>
          <p:cNvPr id="11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5276088"/>
            <a:ext cx="320040" cy="320040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1097280" y="5212080"/>
            <a:ext cx="6126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Subscriber.  </a:t>
            </a:r>
            <a:r>
              <a:rPr lang="en-US" sz="13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server.py i Node-RED se pretplacuju i primaju podatke.</a:t>
            </a:r>
            <a:endParaRPr lang="en-US" sz="1350" dirty="0"/>
          </a:p>
        </p:txBody>
      </p:sp>
      <p:sp>
        <p:nvSpPr>
          <p:cNvPr id="13" name="Shape 7"/>
          <p:cNvSpPr/>
          <p:nvPr/>
        </p:nvSpPr>
        <p:spPr>
          <a:xfrm>
            <a:off x="7589520" y="1554480"/>
            <a:ext cx="3931920" cy="4572000"/>
          </a:xfrm>
          <a:prstGeom prst="roundRect">
            <a:avLst>
              <a:gd name="adj" fmla="val 2326"/>
            </a:avLst>
          </a:prstGeom>
          <a:solidFill>
            <a:srgbClr val="0B1F3A"/>
          </a:solidFill>
          <a:ln/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4" name="Text 8"/>
          <p:cNvSpPr/>
          <p:nvPr/>
        </p:nvSpPr>
        <p:spPr>
          <a:xfrm>
            <a:off x="7863840" y="173736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cvor1.py</a:t>
            </a:r>
            <a:endParaRPr lang="en-US" sz="1200" dirty="0"/>
          </a:p>
        </p:txBody>
      </p:sp>
      <p:sp>
        <p:nvSpPr>
          <p:cNvPr id="15" name="Shape 9"/>
          <p:cNvSpPr/>
          <p:nvPr/>
        </p:nvSpPr>
        <p:spPr>
          <a:xfrm>
            <a:off x="7863840" y="2103120"/>
            <a:ext cx="3383280" cy="0"/>
          </a:xfrm>
          <a:prstGeom prst="line">
            <a:avLst/>
          </a:prstGeom>
          <a:noFill/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" name="Text 10"/>
          <p:cNvSpPr/>
          <p:nvPr/>
        </p:nvSpPr>
        <p:spPr>
          <a:xfrm>
            <a:off x="7863840" y="2240280"/>
            <a:ext cx="356616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22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client = mqtt.Client(</a:t>
            </a:r>
            <a:endParaRPr lang="en-US" sz="1250" dirty="0"/>
          </a:p>
          <a:p>
            <a:pPr marL="0" indent="0">
              <a:lnSpc>
                <a:spcPts val="2200"/>
              </a:lnSpc>
              <a:buNone/>
            </a:pPr>
            <a:r>
              <a:rPr lang="en-US" sz="125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"cvor1")</a:t>
            </a:r>
            <a:endParaRPr lang="en-US" sz="1250" dirty="0"/>
          </a:p>
          <a:p>
            <a:pPr marL="0" indent="0">
              <a:lnSpc>
                <a:spcPts val="22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client.connect(</a:t>
            </a:r>
            <a:endParaRPr lang="en-US" sz="1250" dirty="0"/>
          </a:p>
          <a:p>
            <a:pPr marL="0" indent="0">
              <a:lnSpc>
                <a:spcPts val="2200"/>
              </a:lnSpc>
              <a:buNone/>
            </a:pPr>
            <a:r>
              <a:rPr lang="en-US" sz="125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BROKER, 1883)</a:t>
            </a:r>
            <a:endParaRPr lang="en-US" sz="1250" dirty="0"/>
          </a:p>
          <a:p>
            <a:pPr marL="0" indent="0">
              <a:lnSpc>
                <a:spcPts val="2200"/>
              </a:lnSpc>
              <a:buNone/>
            </a:pPr>
            <a:endParaRPr lang="en-US" sz="1250" dirty="0"/>
          </a:p>
          <a:p>
            <a:pPr marL="0" indent="0">
              <a:lnSpc>
                <a:spcPts val="22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 = random.uniform(18,28)</a:t>
            </a:r>
            <a:endParaRPr lang="en-US" sz="1250" dirty="0"/>
          </a:p>
          <a:p>
            <a:pPr marL="0" indent="0">
              <a:lnSpc>
                <a:spcPts val="22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client.publish(</a:t>
            </a:r>
            <a:endParaRPr lang="en-US" sz="1250" dirty="0"/>
          </a:p>
          <a:p>
            <a:pPr marL="0" indent="0">
              <a:lnSpc>
                <a:spcPts val="2200"/>
              </a:lnSpc>
              <a:buNone/>
            </a:pPr>
            <a:r>
              <a:rPr lang="en-US" sz="1250" dirty="0">
                <a:solidFill>
                  <a:srgbClr val="F9E79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"iot/cvor1/temperatura",</a:t>
            </a:r>
            <a:endParaRPr lang="en-US" sz="1250" dirty="0"/>
          </a:p>
          <a:p>
            <a:pPr marL="0" indent="0">
              <a:lnSpc>
                <a:spcPts val="2200"/>
              </a:lnSpc>
              <a:buNone/>
            </a:pPr>
            <a:r>
              <a:rPr lang="en-US" sz="125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str(t))</a:t>
            </a:r>
            <a:endParaRPr lang="en-US" sz="1250" dirty="0"/>
          </a:p>
        </p:txBody>
      </p:sp>
      <p:sp>
        <p:nvSpPr>
          <p:cNvPr id="17" name="Text 11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Distribuirani Senzorski Cvor  ·  IoT projekat</a:t>
            </a:r>
            <a:endParaRPr lang="en-US" sz="900" dirty="0"/>
          </a:p>
        </p:txBody>
      </p:sp>
      <p:sp>
        <p:nvSpPr>
          <p:cNvPr id="18" name="Text 12"/>
          <p:cNvSpPr/>
          <p:nvPr/>
        </p:nvSpPr>
        <p:spPr>
          <a:xfrm>
            <a:off x="1124712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OBRADA PODATAKA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226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server.py - analiza i cuvanje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737360"/>
            <a:ext cx="603504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5" name="Shape 3"/>
          <p:cNvSpPr/>
          <p:nvPr/>
        </p:nvSpPr>
        <p:spPr>
          <a:xfrm>
            <a:off x="868680" y="2029968"/>
            <a:ext cx="594360" cy="594360"/>
          </a:xfrm>
          <a:prstGeom prst="ellipse">
            <a:avLst/>
          </a:prstGeom>
          <a:solidFill>
            <a:srgbClr val="0E2E4E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7552" y="2148840"/>
            <a:ext cx="365760" cy="3657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45920" y="1938528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Statistika u letu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1645920" y="2267712"/>
            <a:ext cx="4892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 svaku velicinu racuna minimum, maksimum i prosek na osnovu svih primljenih poruka.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640080" y="3108960"/>
            <a:ext cx="603504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0" name="Shape 7"/>
          <p:cNvSpPr/>
          <p:nvPr/>
        </p:nvSpPr>
        <p:spPr>
          <a:xfrm>
            <a:off x="868680" y="3401568"/>
            <a:ext cx="594360" cy="594360"/>
          </a:xfrm>
          <a:prstGeom prst="ellipse">
            <a:avLst/>
          </a:prstGeom>
          <a:solidFill>
            <a:srgbClr val="0E2E4E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7552" y="3520440"/>
            <a:ext cx="365760" cy="36576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645920" y="3310128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Detekcija upozorenja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1645920" y="3639312"/>
            <a:ext cx="4892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Ako je vrednost van dozvoljenog opsega, oznacava se status ALARM.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640080" y="4480560"/>
            <a:ext cx="603504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5" name="Shape 11"/>
          <p:cNvSpPr/>
          <p:nvPr/>
        </p:nvSpPr>
        <p:spPr>
          <a:xfrm>
            <a:off x="868680" y="4773168"/>
            <a:ext cx="594360" cy="594360"/>
          </a:xfrm>
          <a:prstGeom prst="ellipse">
            <a:avLst/>
          </a:prstGeom>
          <a:solidFill>
            <a:srgbClr val="0E2E4E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87552" y="4892040"/>
            <a:ext cx="365760" cy="36576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645920" y="4681728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Cuvanje u SQLite</a:t>
            </a:r>
            <a:endParaRPr lang="en-US" sz="1600" dirty="0"/>
          </a:p>
        </p:txBody>
      </p:sp>
      <p:sp>
        <p:nvSpPr>
          <p:cNvPr id="18" name="Text 13"/>
          <p:cNvSpPr/>
          <p:nvPr/>
        </p:nvSpPr>
        <p:spPr>
          <a:xfrm>
            <a:off x="1645920" y="5010912"/>
            <a:ext cx="4892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Svako merenje se upisuje u tabelu merenja (cvor, velicina, vrednost, status, vreme).</a:t>
            </a:r>
            <a:endParaRPr lang="en-US" sz="1200" dirty="0"/>
          </a:p>
        </p:txBody>
      </p:sp>
      <p:sp>
        <p:nvSpPr>
          <p:cNvPr id="19" name="Shape 14"/>
          <p:cNvSpPr/>
          <p:nvPr/>
        </p:nvSpPr>
        <p:spPr>
          <a:xfrm>
            <a:off x="7040880" y="1737360"/>
            <a:ext cx="4480560" cy="4023360"/>
          </a:xfrm>
          <a:prstGeom prst="roundRect">
            <a:avLst>
              <a:gd name="adj" fmla="val 2273"/>
            </a:avLst>
          </a:prstGeom>
          <a:solidFill>
            <a:srgbClr val="0E2E4E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69480" y="1965960"/>
            <a:ext cx="411480" cy="411480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7772400" y="1993392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Tabela: merenja</a:t>
            </a:r>
            <a:endParaRPr lang="en-US" sz="1600" dirty="0"/>
          </a:p>
        </p:txBody>
      </p:sp>
      <p:sp>
        <p:nvSpPr>
          <p:cNvPr id="22" name="Text 16"/>
          <p:cNvSpPr/>
          <p:nvPr/>
        </p:nvSpPr>
        <p:spPr>
          <a:xfrm>
            <a:off x="7315200" y="2606040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</a:t>
            </a:r>
            <a:endParaRPr lang="en-US" sz="1300" dirty="0"/>
          </a:p>
        </p:txBody>
      </p:sp>
      <p:sp>
        <p:nvSpPr>
          <p:cNvPr id="23" name="Text 17"/>
          <p:cNvSpPr/>
          <p:nvPr/>
        </p:nvSpPr>
        <p:spPr>
          <a:xfrm>
            <a:off x="8961120" y="260604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INTEGER PK</a:t>
            </a:r>
            <a:endParaRPr lang="en-US" sz="1200" dirty="0"/>
          </a:p>
        </p:txBody>
      </p:sp>
      <p:sp>
        <p:nvSpPr>
          <p:cNvPr id="24" name="Text 18"/>
          <p:cNvSpPr/>
          <p:nvPr/>
        </p:nvSpPr>
        <p:spPr>
          <a:xfrm>
            <a:off x="7315200" y="3035808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cvor</a:t>
            </a:r>
            <a:endParaRPr lang="en-US" sz="1300" dirty="0"/>
          </a:p>
        </p:txBody>
      </p:sp>
      <p:sp>
        <p:nvSpPr>
          <p:cNvPr id="25" name="Text 19"/>
          <p:cNvSpPr/>
          <p:nvPr/>
        </p:nvSpPr>
        <p:spPr>
          <a:xfrm>
            <a:off x="8961120" y="3035808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TEXT</a:t>
            </a:r>
            <a:endParaRPr lang="en-US" sz="1200" dirty="0"/>
          </a:p>
        </p:txBody>
      </p:sp>
      <p:sp>
        <p:nvSpPr>
          <p:cNvPr id="26" name="Text 20"/>
          <p:cNvSpPr/>
          <p:nvPr/>
        </p:nvSpPr>
        <p:spPr>
          <a:xfrm>
            <a:off x="7315200" y="3465576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velicina</a:t>
            </a:r>
            <a:endParaRPr lang="en-US" sz="1300" dirty="0"/>
          </a:p>
        </p:txBody>
      </p:sp>
      <p:sp>
        <p:nvSpPr>
          <p:cNvPr id="27" name="Text 21"/>
          <p:cNvSpPr/>
          <p:nvPr/>
        </p:nvSpPr>
        <p:spPr>
          <a:xfrm>
            <a:off x="8961120" y="3465576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TEXT</a:t>
            </a:r>
            <a:endParaRPr lang="en-US" sz="1200" dirty="0"/>
          </a:p>
        </p:txBody>
      </p:sp>
      <p:sp>
        <p:nvSpPr>
          <p:cNvPr id="28" name="Text 22"/>
          <p:cNvSpPr/>
          <p:nvPr/>
        </p:nvSpPr>
        <p:spPr>
          <a:xfrm>
            <a:off x="7315200" y="3895344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vrednost</a:t>
            </a:r>
            <a:endParaRPr lang="en-US" sz="1300" dirty="0"/>
          </a:p>
        </p:txBody>
      </p:sp>
      <p:sp>
        <p:nvSpPr>
          <p:cNvPr id="29" name="Text 23"/>
          <p:cNvSpPr/>
          <p:nvPr/>
        </p:nvSpPr>
        <p:spPr>
          <a:xfrm>
            <a:off x="8961120" y="3895344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REAL</a:t>
            </a:r>
            <a:endParaRPr lang="en-US" sz="1200" dirty="0"/>
          </a:p>
        </p:txBody>
      </p:sp>
      <p:sp>
        <p:nvSpPr>
          <p:cNvPr id="30" name="Text 24"/>
          <p:cNvSpPr/>
          <p:nvPr/>
        </p:nvSpPr>
        <p:spPr>
          <a:xfrm>
            <a:off x="7315200" y="4325112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jedinica</a:t>
            </a:r>
            <a:endParaRPr lang="en-US" sz="1300" dirty="0"/>
          </a:p>
        </p:txBody>
      </p:sp>
      <p:sp>
        <p:nvSpPr>
          <p:cNvPr id="31" name="Text 25"/>
          <p:cNvSpPr/>
          <p:nvPr/>
        </p:nvSpPr>
        <p:spPr>
          <a:xfrm>
            <a:off x="8961120" y="4325112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TEXT</a:t>
            </a:r>
            <a:endParaRPr lang="en-US" sz="1200" dirty="0"/>
          </a:p>
        </p:txBody>
      </p:sp>
      <p:sp>
        <p:nvSpPr>
          <p:cNvPr id="32" name="Text 26"/>
          <p:cNvSpPr/>
          <p:nvPr/>
        </p:nvSpPr>
        <p:spPr>
          <a:xfrm>
            <a:off x="7315200" y="4754880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status</a:t>
            </a:r>
            <a:endParaRPr lang="en-US" sz="1300" dirty="0"/>
          </a:p>
        </p:txBody>
      </p:sp>
      <p:sp>
        <p:nvSpPr>
          <p:cNvPr id="33" name="Text 27"/>
          <p:cNvSpPr/>
          <p:nvPr/>
        </p:nvSpPr>
        <p:spPr>
          <a:xfrm>
            <a:off x="8961120" y="475488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TEXT  (OK / ALARM)</a:t>
            </a:r>
            <a:endParaRPr lang="en-US" sz="1200" dirty="0"/>
          </a:p>
        </p:txBody>
      </p:sp>
      <p:sp>
        <p:nvSpPr>
          <p:cNvPr id="34" name="Text 28"/>
          <p:cNvSpPr/>
          <p:nvPr/>
        </p:nvSpPr>
        <p:spPr>
          <a:xfrm>
            <a:off x="7315200" y="5184648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vreme</a:t>
            </a:r>
            <a:endParaRPr lang="en-US" sz="1300" dirty="0"/>
          </a:p>
        </p:txBody>
      </p:sp>
      <p:sp>
        <p:nvSpPr>
          <p:cNvPr id="35" name="Text 29"/>
          <p:cNvSpPr/>
          <p:nvPr/>
        </p:nvSpPr>
        <p:spPr>
          <a:xfrm>
            <a:off x="8961120" y="5184648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TEXT</a:t>
            </a:r>
            <a:endParaRPr lang="en-US" sz="1200" dirty="0"/>
          </a:p>
        </p:txBody>
      </p:sp>
      <p:sp>
        <p:nvSpPr>
          <p:cNvPr id="36" name="Text 30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Distribuirani Senzorski Cvor  ·  IoT projekat</a:t>
            </a:r>
            <a:endParaRPr lang="en-US" sz="900" dirty="0"/>
          </a:p>
        </p:txBody>
      </p:sp>
      <p:sp>
        <p:nvSpPr>
          <p:cNvPr id="37" name="Text 31"/>
          <p:cNvSpPr/>
          <p:nvPr/>
        </p:nvSpPr>
        <p:spPr>
          <a:xfrm>
            <a:off x="1124712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VIZUELIZACIJA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226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Node-RED dashboard u realnom vremenu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55448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2400"/>
              </a:lnSpc>
              <a:buNone/>
            </a:pPr>
            <a:r>
              <a:rPr lang="en-US" sz="1600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Node-RED dashboard pretplacuje se na MQTT teme i prikazuje pristigle podatke </a:t>
            </a:r>
            <a:r>
              <a:rPr lang="en-US" sz="1600" dirty="0" err="1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uzivo</a:t>
            </a:r>
            <a:r>
              <a:rPr lang="en-US" sz="1600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- gauge-ovi za trenutne vrednosti i linijski grafovi za istoriju merenja.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2560320"/>
            <a:ext cx="2103120" cy="173736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6" name="Shape 4"/>
          <p:cNvSpPr/>
          <p:nvPr/>
        </p:nvSpPr>
        <p:spPr>
          <a:xfrm>
            <a:off x="1097280" y="2834640"/>
            <a:ext cx="1188720" cy="1188720"/>
          </a:xfrm>
          <a:prstGeom prst="ellipse">
            <a:avLst/>
          </a:prstGeom>
          <a:solidFill>
            <a:srgbClr val="F4F7FB"/>
          </a:solidFill>
          <a:ln w="76200">
            <a:solidFill>
              <a:srgbClr val="02C39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Text 5"/>
          <p:cNvSpPr/>
          <p:nvPr/>
        </p:nvSpPr>
        <p:spPr>
          <a:xfrm>
            <a:off x="1097280" y="3127248"/>
            <a:ext cx="1188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1226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23.4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1097280" y="3547872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°C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40080" y="3977640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Temperatura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2971800" y="2560320"/>
            <a:ext cx="2103120" cy="173736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1" name="Shape 9"/>
          <p:cNvSpPr/>
          <p:nvPr/>
        </p:nvSpPr>
        <p:spPr>
          <a:xfrm>
            <a:off x="3429000" y="2834640"/>
            <a:ext cx="1188720" cy="1188720"/>
          </a:xfrm>
          <a:prstGeom prst="ellipse">
            <a:avLst/>
          </a:prstGeom>
          <a:solidFill>
            <a:srgbClr val="F4F7FB"/>
          </a:solidFill>
          <a:ln w="76200">
            <a:solidFill>
              <a:srgbClr val="1C729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Text 10"/>
          <p:cNvSpPr/>
          <p:nvPr/>
        </p:nvSpPr>
        <p:spPr>
          <a:xfrm>
            <a:off x="3429000" y="3127248"/>
            <a:ext cx="1188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1226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61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3429000" y="3547872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2971800" y="3977640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Vlaga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5303520" y="2560320"/>
            <a:ext cx="2103120" cy="173736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6" name="Shape 14"/>
          <p:cNvSpPr/>
          <p:nvPr/>
        </p:nvSpPr>
        <p:spPr>
          <a:xfrm>
            <a:off x="5760720" y="2834640"/>
            <a:ext cx="1188720" cy="1188720"/>
          </a:xfrm>
          <a:prstGeom prst="ellipse">
            <a:avLst/>
          </a:prstGeom>
          <a:solidFill>
            <a:srgbClr val="F4F7FB"/>
          </a:solidFill>
          <a:ln w="76200">
            <a:solidFill>
              <a:srgbClr val="F2A65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Text 15"/>
          <p:cNvSpPr/>
          <p:nvPr/>
        </p:nvSpPr>
        <p:spPr>
          <a:xfrm>
            <a:off x="5760720" y="3127248"/>
            <a:ext cx="1188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1226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742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5760720" y="3547872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lux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303520" y="3977640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Svetlost</a:t>
            </a:r>
            <a:endParaRPr lang="en-US" sz="1300" dirty="0"/>
          </a:p>
        </p:txBody>
      </p:sp>
      <p:graphicFrame>
        <p:nvGraphicFramePr>
          <p:cNvPr id="20" name="Chart 0"/>
          <p:cNvGraphicFramePr/>
          <p:nvPr/>
        </p:nvGraphicFramePr>
        <p:xfrm>
          <a:off x="7680960" y="2560320"/>
          <a:ext cx="3931920" cy="32004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21" name="Text 18"/>
          <p:cNvSpPr/>
          <p:nvPr/>
        </p:nvSpPr>
        <p:spPr>
          <a:xfrm>
            <a:off x="640080" y="4617720"/>
            <a:ext cx="66751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 podataka u Node-RED-u (flows.json) povezuje MQTT ulaze sa dashboard </a:t>
            </a:r>
            <a:r>
              <a:rPr lang="en-US" sz="1300" i="1" dirty="0" err="1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cvorovima</a:t>
            </a:r>
            <a:r>
              <a:rPr lang="en-US" sz="13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- bez pisanja koda.</a:t>
            </a:r>
            <a:endParaRPr lang="en-US" sz="1300" dirty="0"/>
          </a:p>
        </p:txBody>
      </p:sp>
      <p:sp>
        <p:nvSpPr>
          <p:cNvPr id="22" name="Text 19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Distribuirani Senzorski Cvor  ·  IoT projekat</a:t>
            </a:r>
            <a:endParaRPr lang="en-US" sz="900" dirty="0"/>
          </a:p>
        </p:txBody>
      </p:sp>
      <p:sp>
        <p:nvSpPr>
          <p:cNvPr id="23" name="Text 20"/>
          <p:cNvSpPr/>
          <p:nvPr/>
        </p:nvSpPr>
        <p:spPr>
          <a:xfrm>
            <a:off x="1124712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HARDVERSKA REALIZACIJA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226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Komponente i povezivanje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361188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/>
          <a:effectLst>
            <a:outerShdw blurRad="889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5" name="Shape 3"/>
          <p:cNvSpPr/>
          <p:nvPr/>
        </p:nvSpPr>
        <p:spPr>
          <a:xfrm>
            <a:off x="640080" y="1691640"/>
            <a:ext cx="91440" cy="1783080"/>
          </a:xfrm>
          <a:prstGeom prst="rect">
            <a:avLst/>
          </a:prstGeom>
          <a:solidFill>
            <a:srgbClr val="02C39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6" name="Shape 4"/>
          <p:cNvSpPr/>
          <p:nvPr/>
        </p:nvSpPr>
        <p:spPr>
          <a:xfrm>
            <a:off x="960120" y="2011680"/>
            <a:ext cx="685800" cy="685800"/>
          </a:xfrm>
          <a:prstGeom prst="ellipse">
            <a:avLst/>
          </a:prstGeom>
          <a:solidFill>
            <a:srgbClr val="0E2E4E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2148840"/>
            <a:ext cx="411480" cy="41148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828800" y="2057400"/>
            <a:ext cx="2240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Raspberry Pi 2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1005840" y="2788920"/>
            <a:ext cx="2971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Gateway: prima podatke i salje ih na MQTT broker.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4480560" y="1691640"/>
            <a:ext cx="361188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/>
          <a:effectLst>
            <a:outerShdw blurRad="889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1" name="Shape 8"/>
          <p:cNvSpPr/>
          <p:nvPr/>
        </p:nvSpPr>
        <p:spPr>
          <a:xfrm>
            <a:off x="4480560" y="1691640"/>
            <a:ext cx="91440" cy="1783080"/>
          </a:xfrm>
          <a:prstGeom prst="rect">
            <a:avLst/>
          </a:prstGeom>
          <a:solidFill>
            <a:srgbClr val="02C39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2" name="Shape 9"/>
          <p:cNvSpPr/>
          <p:nvPr/>
        </p:nvSpPr>
        <p:spPr>
          <a:xfrm>
            <a:off x="4800600" y="2011680"/>
            <a:ext cx="685800" cy="685800"/>
          </a:xfrm>
          <a:prstGeom prst="ellipse">
            <a:avLst/>
          </a:prstGeom>
          <a:solidFill>
            <a:srgbClr val="0E2E4E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37760" y="2148840"/>
            <a:ext cx="411480" cy="41148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5669280" y="2057400"/>
            <a:ext cx="2240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Arduin</a:t>
            </a:r>
            <a:r>
              <a:rPr lang="sr-Latn-RS" sz="1700" b="1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</a:t>
            </a:r>
            <a:endParaRPr lang="en-US" sz="1700" dirty="0"/>
          </a:p>
        </p:txBody>
      </p:sp>
      <p:sp>
        <p:nvSpPr>
          <p:cNvPr id="15" name="Text 11"/>
          <p:cNvSpPr/>
          <p:nvPr/>
        </p:nvSpPr>
        <p:spPr>
          <a:xfrm>
            <a:off x="4846320" y="2788920"/>
            <a:ext cx="2971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Ocitava senzore i salje preko USB-a ka Pi-ju.</a:t>
            </a:r>
            <a:endParaRPr lang="en-US" sz="1200" dirty="0"/>
          </a:p>
        </p:txBody>
      </p:sp>
      <p:sp>
        <p:nvSpPr>
          <p:cNvPr id="16" name="Shape 12"/>
          <p:cNvSpPr/>
          <p:nvPr/>
        </p:nvSpPr>
        <p:spPr>
          <a:xfrm>
            <a:off x="8321040" y="1691640"/>
            <a:ext cx="361188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/>
          <a:effectLst>
            <a:outerShdw blurRad="889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7" name="Shape 13"/>
          <p:cNvSpPr/>
          <p:nvPr/>
        </p:nvSpPr>
        <p:spPr>
          <a:xfrm>
            <a:off x="8321040" y="1691640"/>
            <a:ext cx="91440" cy="1783080"/>
          </a:xfrm>
          <a:prstGeom prst="rect">
            <a:avLst/>
          </a:prstGeom>
          <a:solidFill>
            <a:srgbClr val="02C39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8" name="Shape 14"/>
          <p:cNvSpPr/>
          <p:nvPr/>
        </p:nvSpPr>
        <p:spPr>
          <a:xfrm>
            <a:off x="8641080" y="2011680"/>
            <a:ext cx="685800" cy="685800"/>
          </a:xfrm>
          <a:prstGeom prst="ellipse">
            <a:avLst/>
          </a:prstGeom>
          <a:solidFill>
            <a:srgbClr val="0E2E4E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78240" y="2148840"/>
            <a:ext cx="411480" cy="41148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9509760" y="2057400"/>
            <a:ext cx="2240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DHT11 senzor</a:t>
            </a:r>
            <a:endParaRPr lang="en-US" sz="1700" dirty="0"/>
          </a:p>
        </p:txBody>
      </p:sp>
      <p:sp>
        <p:nvSpPr>
          <p:cNvPr id="21" name="Text 16"/>
          <p:cNvSpPr/>
          <p:nvPr/>
        </p:nvSpPr>
        <p:spPr>
          <a:xfrm>
            <a:off x="8686800" y="2788920"/>
            <a:ext cx="2971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Meri temperaturu i vlaznost (dve velicine).</a:t>
            </a:r>
            <a:endParaRPr lang="en-US" sz="1200" dirty="0"/>
          </a:p>
        </p:txBody>
      </p:sp>
      <p:sp>
        <p:nvSpPr>
          <p:cNvPr id="22" name="Shape 17"/>
          <p:cNvSpPr/>
          <p:nvPr/>
        </p:nvSpPr>
        <p:spPr>
          <a:xfrm>
            <a:off x="640080" y="3794760"/>
            <a:ext cx="361188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/>
          <a:effectLst>
            <a:outerShdw blurRad="889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3" name="Shape 18"/>
          <p:cNvSpPr/>
          <p:nvPr/>
        </p:nvSpPr>
        <p:spPr>
          <a:xfrm>
            <a:off x="640080" y="3794760"/>
            <a:ext cx="91440" cy="1783080"/>
          </a:xfrm>
          <a:prstGeom prst="rect">
            <a:avLst/>
          </a:prstGeom>
          <a:solidFill>
            <a:srgbClr val="02C39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4" name="Shape 19"/>
          <p:cNvSpPr/>
          <p:nvPr/>
        </p:nvSpPr>
        <p:spPr>
          <a:xfrm>
            <a:off x="960120" y="4114800"/>
            <a:ext cx="685800" cy="685800"/>
          </a:xfrm>
          <a:prstGeom prst="ellipse">
            <a:avLst/>
          </a:prstGeom>
          <a:solidFill>
            <a:srgbClr val="0E2E4E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25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97280" y="4251960"/>
            <a:ext cx="411480" cy="411480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1828800" y="4160520"/>
            <a:ext cx="2240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Potenciometar</a:t>
            </a:r>
            <a:endParaRPr lang="en-US" sz="1700" dirty="0"/>
          </a:p>
        </p:txBody>
      </p:sp>
      <p:sp>
        <p:nvSpPr>
          <p:cNvPr id="27" name="Text 21"/>
          <p:cNvSpPr/>
          <p:nvPr/>
        </p:nvSpPr>
        <p:spPr>
          <a:xfrm>
            <a:off x="1005840" y="4892040"/>
            <a:ext cx="2971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Umesto senzora svetlosti - simulira intenzitet.</a:t>
            </a:r>
            <a:endParaRPr lang="en-US" sz="1200" dirty="0"/>
          </a:p>
        </p:txBody>
      </p:sp>
      <p:sp>
        <p:nvSpPr>
          <p:cNvPr id="28" name="Shape 22"/>
          <p:cNvSpPr/>
          <p:nvPr/>
        </p:nvSpPr>
        <p:spPr>
          <a:xfrm>
            <a:off x="4480560" y="3794760"/>
            <a:ext cx="361188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/>
          <a:effectLst>
            <a:outerShdw blurRad="889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9" name="Shape 23"/>
          <p:cNvSpPr/>
          <p:nvPr/>
        </p:nvSpPr>
        <p:spPr>
          <a:xfrm>
            <a:off x="4480560" y="3794760"/>
            <a:ext cx="91440" cy="1783080"/>
          </a:xfrm>
          <a:prstGeom prst="rect">
            <a:avLst/>
          </a:prstGeom>
          <a:solidFill>
            <a:srgbClr val="02C39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0" name="Shape 24"/>
          <p:cNvSpPr/>
          <p:nvPr/>
        </p:nvSpPr>
        <p:spPr>
          <a:xfrm>
            <a:off x="4800600" y="4114800"/>
            <a:ext cx="685800" cy="685800"/>
          </a:xfrm>
          <a:prstGeom prst="ellipse">
            <a:avLst/>
          </a:prstGeom>
          <a:solidFill>
            <a:srgbClr val="0E2E4E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31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37760" y="4251960"/>
            <a:ext cx="411480" cy="411480"/>
          </a:xfrm>
          <a:prstGeom prst="rect">
            <a:avLst/>
          </a:prstGeom>
        </p:spPr>
      </p:pic>
      <p:sp>
        <p:nvSpPr>
          <p:cNvPr id="32" name="Text 25"/>
          <p:cNvSpPr/>
          <p:nvPr/>
        </p:nvSpPr>
        <p:spPr>
          <a:xfrm>
            <a:off x="5669280" y="4160520"/>
            <a:ext cx="2240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Breadboard + zice</a:t>
            </a:r>
            <a:endParaRPr lang="en-US" sz="1700" dirty="0"/>
          </a:p>
        </p:txBody>
      </p:sp>
      <p:sp>
        <p:nvSpPr>
          <p:cNvPr id="33" name="Text 26"/>
          <p:cNvSpPr/>
          <p:nvPr/>
        </p:nvSpPr>
        <p:spPr>
          <a:xfrm>
            <a:off x="4846320" y="4892040"/>
            <a:ext cx="2971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Povezivanje komponenti sa Arduinom.</a:t>
            </a:r>
            <a:endParaRPr lang="en-US" sz="1200" dirty="0"/>
          </a:p>
        </p:txBody>
      </p:sp>
      <p:sp>
        <p:nvSpPr>
          <p:cNvPr id="34" name="Shape 27"/>
          <p:cNvSpPr/>
          <p:nvPr/>
        </p:nvSpPr>
        <p:spPr>
          <a:xfrm>
            <a:off x="8321040" y="3794760"/>
            <a:ext cx="361188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/>
          <a:effectLst>
            <a:outerShdw blurRad="889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35" name="Shape 28"/>
          <p:cNvSpPr/>
          <p:nvPr/>
        </p:nvSpPr>
        <p:spPr>
          <a:xfrm>
            <a:off x="8321040" y="3794760"/>
            <a:ext cx="91440" cy="1783080"/>
          </a:xfrm>
          <a:prstGeom prst="rect">
            <a:avLst/>
          </a:prstGeom>
          <a:solidFill>
            <a:srgbClr val="02C39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6" name="Shape 29"/>
          <p:cNvSpPr/>
          <p:nvPr/>
        </p:nvSpPr>
        <p:spPr>
          <a:xfrm>
            <a:off x="8641080" y="4114800"/>
            <a:ext cx="685800" cy="685800"/>
          </a:xfrm>
          <a:prstGeom prst="ellipse">
            <a:avLst/>
          </a:prstGeom>
          <a:solidFill>
            <a:srgbClr val="0E2E4E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37" name="Image 5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778240" y="4251960"/>
            <a:ext cx="411480" cy="411480"/>
          </a:xfrm>
          <a:prstGeom prst="rect">
            <a:avLst/>
          </a:prstGeom>
        </p:spPr>
      </p:pic>
      <p:sp>
        <p:nvSpPr>
          <p:cNvPr id="38" name="Text 30"/>
          <p:cNvSpPr/>
          <p:nvPr/>
        </p:nvSpPr>
        <p:spPr>
          <a:xfrm>
            <a:off x="9509760" y="4160520"/>
            <a:ext cx="2240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 podataka</a:t>
            </a:r>
            <a:endParaRPr lang="en-US" sz="1700" dirty="0"/>
          </a:p>
        </p:txBody>
      </p:sp>
      <p:sp>
        <p:nvSpPr>
          <p:cNvPr id="39" name="Text 31"/>
          <p:cNvSpPr/>
          <p:nvPr/>
        </p:nvSpPr>
        <p:spPr>
          <a:xfrm>
            <a:off x="8686800" y="4892040"/>
            <a:ext cx="2971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Senzori -&gt; Arduino -&gt; Pi -&gt; broker -&gt; dashboard.</a:t>
            </a:r>
            <a:endParaRPr lang="en-US" sz="1200" dirty="0"/>
          </a:p>
        </p:txBody>
      </p:sp>
      <p:sp>
        <p:nvSpPr>
          <p:cNvPr id="40" name="Text 32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Distribuirani Senzorski Cvor  ·  IoT projekat</a:t>
            </a:r>
            <a:endParaRPr lang="en-US" sz="900" dirty="0"/>
          </a:p>
        </p:txBody>
      </p:sp>
      <p:sp>
        <p:nvSpPr>
          <p:cNvPr id="41" name="Text 33"/>
          <p:cNvSpPr/>
          <p:nvPr/>
        </p:nvSpPr>
        <p:spPr>
          <a:xfrm>
            <a:off x="1124712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607040" y="-731520"/>
            <a:ext cx="2377440" cy="2377440"/>
          </a:xfrm>
          <a:prstGeom prst="ellipse">
            <a:avLst/>
          </a:prstGeom>
          <a:solidFill>
            <a:srgbClr val="1C7293">
              <a:alpha val="35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Shape 1"/>
          <p:cNvSpPr/>
          <p:nvPr/>
        </p:nvSpPr>
        <p:spPr>
          <a:xfrm>
            <a:off x="-640080" y="5394960"/>
            <a:ext cx="2194560" cy="2194560"/>
          </a:xfrm>
          <a:prstGeom prst="ellipse">
            <a:avLst/>
          </a:prstGeom>
          <a:solidFill>
            <a:srgbClr val="02C39A">
              <a:alpha val="25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4" name="Text 2"/>
          <p:cNvSpPr/>
          <p:nvPr/>
        </p:nvSpPr>
        <p:spPr>
          <a:xfrm>
            <a:off x="685800" y="6400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ZAKLJUCAK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85800" y="100584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Funkcionalan distribuirani IoT sistem</a:t>
            </a:r>
            <a:endParaRPr lang="en-US" sz="34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2167128"/>
            <a:ext cx="365760" cy="3657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280160" y="2121408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 nezavisna senzorska cvora salju podatke preko MQTT-a.</a:t>
            </a:r>
            <a:endParaRPr lang="en-US" sz="1600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2807208"/>
            <a:ext cx="365760" cy="36576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280160" y="2761488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Mosquitto broker centralizuje razmenu poruka.</a:t>
            </a:r>
            <a:endParaRPr lang="en-US" sz="160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3447288"/>
            <a:ext cx="365760" cy="36576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280160" y="3401568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server.py obradjuje podatke i trajno ih cuva u SQLite bazi.</a:t>
            </a:r>
            <a:endParaRPr lang="en-US" sz="160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4087368"/>
            <a:ext cx="365760" cy="365760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1280160" y="4041648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Node-RED dashboard prikazuje sve u realnom vremenu.</a:t>
            </a:r>
            <a:endParaRPr lang="en-US" sz="1600" dirty="0"/>
          </a:p>
        </p:txBody>
      </p:sp>
      <p:sp>
        <p:nvSpPr>
          <p:cNvPr id="14" name="Shape 8"/>
          <p:cNvSpPr/>
          <p:nvPr/>
        </p:nvSpPr>
        <p:spPr>
          <a:xfrm>
            <a:off x="9052560" y="2103120"/>
            <a:ext cx="2606040" cy="2743200"/>
          </a:xfrm>
          <a:prstGeom prst="roundRect">
            <a:avLst>
              <a:gd name="adj" fmla="val 4211"/>
            </a:avLst>
          </a:prstGeom>
          <a:solidFill>
            <a:srgbClr val="0E2E4E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5" name="Text 9"/>
          <p:cNvSpPr/>
          <p:nvPr/>
        </p:nvSpPr>
        <p:spPr>
          <a:xfrm>
            <a:off x="9281160" y="228600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Moguca prosirenja</a:t>
            </a:r>
            <a:endParaRPr lang="en-US" sz="1200" dirty="0"/>
          </a:p>
        </p:txBody>
      </p:sp>
      <p:sp>
        <p:nvSpPr>
          <p:cNvPr id="16" name="Text 10"/>
          <p:cNvSpPr/>
          <p:nvPr/>
        </p:nvSpPr>
        <p:spPr>
          <a:xfrm>
            <a:off x="9281160" y="2651760"/>
            <a:ext cx="224028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2400"/>
              </a:lnSpc>
              <a:buSzPct val="100000"/>
              <a:buChar char="•"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Bezicni cvor (ESP32)</a:t>
            </a:r>
            <a:endParaRPr lang="en-US" sz="1300" dirty="0"/>
          </a:p>
          <a:p>
            <a:pPr marL="342900" indent="-342900">
              <a:lnSpc>
                <a:spcPts val="2400"/>
              </a:lnSpc>
              <a:buSzPct val="100000"/>
              <a:buChar char="•"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Slanje u cloud</a:t>
            </a:r>
            <a:endParaRPr lang="en-US" sz="1300" dirty="0"/>
          </a:p>
          <a:p>
            <a:pPr marL="342900" indent="-342900">
              <a:lnSpc>
                <a:spcPts val="2400"/>
              </a:lnSpc>
              <a:buSzPct val="100000"/>
              <a:buChar char="•"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Email/SMS alarmi</a:t>
            </a:r>
            <a:endParaRPr lang="en-US" sz="1300" dirty="0"/>
          </a:p>
          <a:p>
            <a:pPr marL="342900" indent="-342900">
              <a:lnSpc>
                <a:spcPts val="2400"/>
              </a:lnSpc>
              <a:buSzPct val="100000"/>
              <a:buChar char="•"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Vise cvorova</a:t>
            </a:r>
            <a:endParaRPr lang="en-US" sz="1300" dirty="0"/>
          </a:p>
        </p:txBody>
      </p:sp>
      <p:sp>
        <p:nvSpPr>
          <p:cNvPr id="17" name="Shape 11"/>
          <p:cNvSpPr/>
          <p:nvPr/>
        </p:nvSpPr>
        <p:spPr>
          <a:xfrm>
            <a:off x="731520" y="5532120"/>
            <a:ext cx="10927080" cy="0"/>
          </a:xfrm>
          <a:prstGeom prst="line">
            <a:avLst/>
          </a:prstGeom>
          <a:noFill/>
          <a:ln w="19050">
            <a:solidFill>
              <a:srgbClr val="1C729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8" name="Text 12"/>
          <p:cNvSpPr/>
          <p:nvPr/>
        </p:nvSpPr>
        <p:spPr>
          <a:xfrm>
            <a:off x="731520" y="566928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2C39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Hvala na paznji!</a:t>
            </a:r>
            <a:endParaRPr lang="en-US" sz="2000" dirty="0"/>
          </a:p>
        </p:txBody>
      </p:sp>
      <p:sp>
        <p:nvSpPr>
          <p:cNvPr id="19" name="Text 13"/>
          <p:cNvSpPr/>
          <p:nvPr/>
        </p:nvSpPr>
        <p:spPr>
          <a:xfrm>
            <a:off x="731520" y="61722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Stefan Grujicic · Mateja Planic · Mihailo Obradovic · Aleksandar Golubovic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</TotalTime>
  <Words>815</Words>
  <Application>Microsoft Office PowerPoint</Application>
  <PresentationFormat>Widescreen</PresentationFormat>
  <Paragraphs>185</Paragraphs>
  <Slides>10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Arial</vt:lpstr>
      <vt:lpstr>Calibri</vt:lpstr>
      <vt:lpstr>Consolas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Distribuirani Senzorski Cvor</dc:title>
  <dc:subject>PptxGenJS Presentation</dc:subject>
  <dc:creator>IoT Tim</dc:creator>
  <cp:lastModifiedBy>Stefan Grujicic</cp:lastModifiedBy>
  <cp:revision>3</cp:revision>
  <dcterms:created xsi:type="dcterms:W3CDTF">2026-06-16T10:29:16Z</dcterms:created>
  <dcterms:modified xsi:type="dcterms:W3CDTF">2026-06-22T15:49:28Z</dcterms:modified>
</cp:coreProperties>
</file>